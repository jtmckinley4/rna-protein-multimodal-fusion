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1" r:id="rId12"/>
    <p:sldId id="258" r:id="rId4"/>
    <p:sldId id="260"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78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Living things run on three connected layers: DNA, RNA, and protein. The models that read each layer are trained separately today. This project tests whether fusing them captures real biological signal none of them see alone, using a rigorous pipeline rather than guessing at an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moves through four stages in order. Stage 1, representation analysis, is where I am now. Each stage's output feeds directly into the next stage's design decisions, so fusion architecture should not be picked before Stage 1 has something to say about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 am: Stage 1, still in literature review and tool definition, no experiments run. The plan this week is to get a small pilot run of the Stage 1 tools actually producing numbers before Wednesday. Open questions are listed for discussion.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520"/>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marL="0" indent="0">
              <a:buNone/>
            </a:pPr>
            <a:r>
              <a:rPr lang="en-US" sz="1300" b="1" kern="0" spc="200" dirty="0">
                <a:solidFill>
                  <a:srgbClr val="97BC62"/>
                </a:solidFill>
                <a:latin typeface="Calibri" pitchFamily="34" charset="0"/>
                <a:ea typeface="Calibri" pitchFamily="34" charset="-122"/>
                <a:cs typeface="Calibri" pitchFamily="34" charset="-120"/>
              </a:rPr>
              <a:t>MINA PROJECT  ·  PROGRESS UPDATE</a:t>
            </a:r>
            <a:endParaRPr lang="en-US" sz="1300" dirty="0"/>
          </a:p>
        </p:txBody>
      </p:sp>
      <p:sp>
        <p:nvSpPr>
          <p:cNvPr id="3" name="Text 1"/>
          <p:cNvSpPr txBox="1"/>
          <p:nvPr/>
        </p:nvSpPr>
        <p:spPr>
          <a:xfrm>
            <a:off x="640080" y="960120"/>
            <a:ext cx="10515600" cy="12801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Building an RNA and Protein Fusion Pipeline</a:t>
            </a:r>
            <a:endParaRPr lang="en-US" sz="4000" dirty="0"/>
          </a:p>
        </p:txBody>
      </p:sp>
      <p:sp>
        <p:nvSpPr>
          <p:cNvPr id="4" name="Text 2"/>
          <p:cNvSpPr txBox="1"/>
          <p:nvPr/>
        </p:nvSpPr>
        <p:spPr>
          <a:xfrm>
            <a:off x="640080" y="2148840"/>
            <a:ext cx="7863840" cy="1005840"/>
          </a:xfrm>
          <a:prstGeom prst="rect">
            <a:avLst/>
          </a:prstGeom>
          <a:noFill/>
          <a:ln/>
        </p:spPr>
        <p:txBody>
          <a:bodyPr wrap="square" lIns="0" tIns="0" rIns="0" bIns="0" rtlCol="0" anchor="ctr"/>
          <a:lstStyle/>
          <a:p>
            <a:pPr marL="0" indent="0">
              <a:lnSpc>
                <a:spcPct val="125000"/>
              </a:lnSpc>
              <a:buNone/>
            </a:pPr>
            <a:r>
              <a:rPr lang="en-US" sz="1500" dirty="0">
                <a:solidFill>
                  <a:srgbClr val="E7EEDF"/>
                </a:solidFill>
                <a:latin typeface="Calibri" pitchFamily="34" charset="0"/>
                <a:ea typeface="Calibri" pitchFamily="34" charset="-122"/>
                <a:cs typeface="Calibri" pitchFamily="34" charset="-120"/>
              </a:rPr>
              <a:t>RNA and protein are each read today by separate foundation models, even though they're two connected layers of the same underlying biology. This project tests whether fusing them captures real biological signal those models miss on their own, using a rigorous pipeline rather than picking an architecture and hoping it works.</a:t>
            </a:r>
            <a:endParaRPr lang="en-US" sz="1500" dirty="0"/>
          </a:p>
        </p:txBody>
      </p:sp>
      <p:sp>
        <p:nvSpPr>
          <p:cNvPr id="8" name="Shape 6"/>
          <p:cNvSpPr/>
          <p:nvPr/>
        </p:nvSpPr>
        <p:spPr>
          <a:xfrm>
            <a:off x="3101340" y="3977640"/>
            <a:ext cx="1920240" cy="1920240"/>
          </a:xfrm>
          <a:prstGeom prst="ellipse">
            <a:avLst/>
          </a:prstGeom>
          <a:solidFill>
            <a:srgbClr val="2C5F2D"/>
          </a:solidFill>
          <a:ln w="19050">
            <a:solidFill>
              <a:srgbClr val="FFFFFF"/>
            </a:solidFill>
            <a:prstDash val="solid"/>
          </a:ln>
        </p:spPr>
        <p:txBody>
          <a:bodyPr/>
          <a:lstStyle/>
          <a:p>
            <a:endParaRPr lang="en-US"/>
          </a:p>
        </p:txBody>
      </p:sp>
      <p:sp>
        <p:nvSpPr>
          <p:cNvPr id="9" name="Text 7"/>
          <p:cNvSpPr txBox="1"/>
          <p:nvPr/>
        </p:nvSpPr>
        <p:spPr>
          <a:xfrm>
            <a:off x="3101340" y="4544568"/>
            <a:ext cx="19202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RNA</a:t>
            </a:r>
            <a:endParaRPr lang="en-US" sz="1500" dirty="0"/>
          </a:p>
        </p:txBody>
      </p:sp>
      <p:sp>
        <p:nvSpPr>
          <p:cNvPr id="10" name="Text 8"/>
          <p:cNvSpPr txBox="1"/>
          <p:nvPr/>
        </p:nvSpPr>
        <p:spPr>
          <a:xfrm>
            <a:off x="3101340" y="4892040"/>
            <a:ext cx="19202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encoder</a:t>
            </a:r>
            <a:endParaRPr lang="en-US" sz="1000" dirty="0"/>
          </a:p>
        </p:txBody>
      </p:sp>
      <p:sp>
        <p:nvSpPr>
          <p:cNvPr id="11" name="Shape 9"/>
          <p:cNvSpPr/>
          <p:nvPr/>
        </p:nvSpPr>
        <p:spPr>
          <a:xfrm>
            <a:off x="7170420" y="3977640"/>
            <a:ext cx="1920240" cy="1920240"/>
          </a:xfrm>
          <a:prstGeom prst="ellipse">
            <a:avLst/>
          </a:prstGeom>
          <a:solidFill>
            <a:srgbClr val="2C5F2D"/>
          </a:solidFill>
          <a:ln w="19050">
            <a:solidFill>
              <a:srgbClr val="FFFFFF"/>
            </a:solidFill>
            <a:prstDash val="solid"/>
          </a:ln>
        </p:spPr>
        <p:txBody>
          <a:bodyPr/>
          <a:lstStyle/>
          <a:p>
            <a:endParaRPr lang="en-US"/>
          </a:p>
        </p:txBody>
      </p:sp>
      <p:sp>
        <p:nvSpPr>
          <p:cNvPr id="12" name="Text 10"/>
          <p:cNvSpPr txBox="1"/>
          <p:nvPr/>
        </p:nvSpPr>
        <p:spPr>
          <a:xfrm>
            <a:off x="7170420" y="4544568"/>
            <a:ext cx="19202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PROTEIN</a:t>
            </a:r>
            <a:endParaRPr lang="en-US" sz="1500" dirty="0"/>
          </a:p>
        </p:txBody>
      </p:sp>
      <p:sp>
        <p:nvSpPr>
          <p:cNvPr id="13" name="Text 11"/>
          <p:cNvSpPr txBox="1"/>
          <p:nvPr/>
        </p:nvSpPr>
        <p:spPr>
          <a:xfrm>
            <a:off x="7170420" y="4892040"/>
            <a:ext cx="19202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encoder</a:t>
            </a:r>
            <a:endParaRPr lang="en-US" sz="1000" dirty="0"/>
          </a:p>
        </p:txBody>
      </p:sp>
      <p:sp>
        <p:nvSpPr>
          <p:cNvPr id="15" name="Shape 13"/>
          <p:cNvSpPr/>
          <p:nvPr/>
        </p:nvSpPr>
        <p:spPr>
          <a:xfrm>
            <a:off x="5131308" y="4828032"/>
            <a:ext cx="914400" cy="219456"/>
          </a:xfrm>
          <a:prstGeom prst="rightArrow">
            <a:avLst/>
          </a:prstGeom>
          <a:solidFill>
            <a:srgbClr val="97BC62"/>
          </a:solidFill>
          <a:ln/>
        </p:spPr>
        <p:txBody>
          <a:bodyPr/>
          <a:lstStyle/>
          <a:p>
            <a:endParaRPr lang="en-US"/>
          </a:p>
        </p:txBody>
      </p:sp>
      <p:sp>
        <p:nvSpPr>
          <p:cNvPr id="16" name="Text 14"/>
          <p:cNvSpPr txBox="1"/>
          <p:nvPr/>
        </p:nvSpPr>
        <p:spPr>
          <a:xfrm>
            <a:off x="640080" y="6355080"/>
            <a:ext cx="10972800" cy="320040"/>
          </a:xfrm>
          <a:prstGeom prst="rect">
            <a:avLst/>
          </a:prstGeom>
          <a:noFill/>
          <a:ln/>
        </p:spPr>
        <p:txBody>
          <a:bodyPr wrap="square" lIns="0" tIns="0" rIns="0" bIns="0" rtlCol="0" anchor="ctr"/>
          <a:lstStyle/>
          <a:p>
            <a:pPr marL="0" indent="0">
              <a:buNone/>
            </a:pPr>
            <a:r>
              <a:rPr lang="en-US" sz="1100" dirty="0">
                <a:solidFill>
                  <a:srgbClr val="E7EEDF"/>
                </a:solidFill>
                <a:latin typeface="Calibri" pitchFamily="34" charset="0"/>
                <a:ea typeface="Calibri" pitchFamily="34" charset="-122"/>
                <a:cs typeface="Calibri" pitchFamily="34" charset="-120"/>
              </a:rPr>
              <a:t>Julian McKinley   |   MSDA AI Track, UCF   |   Meeting with Mina Basirat, September 23,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PIPELINE ARCHITECTURE</a:t>
            </a:r>
            <a:endParaRPr lang="en-US" sz="1300" dirty="0"/>
          </a:p>
        </p:txBody>
      </p:sp>
      <p:sp>
        <p:nvSpPr>
          <p:cNvPr id="3" name="Text 1"/>
          <p:cNvSpPr txBox="1"/>
          <p:nvPr/>
        </p:nvSpPr>
        <p:spPr>
          <a:xfrm>
            <a:off x="640080" y="777240"/>
            <a:ext cx="10058400" cy="685800"/>
          </a:xfrm>
          <a:prstGeom prst="rect">
            <a:avLst/>
          </a:prstGeom>
          <a:noFill/>
          <a:ln/>
        </p:spPr>
        <p:txBody>
          <a:bodyPr wrap="square" lIns="0" tIns="0" rIns="0" bIns="0" rtlCol="0" anchor="ctr"/>
          <a:lstStyle/>
          <a:p>
            <a:pPr marL="0" indent="0">
              <a:buNone/>
            </a:pPr>
            <a:r>
              <a:rPr lang="en-US" sz="3200" b="1" dirty="0">
                <a:solidFill>
                  <a:srgbClr val="222222"/>
                </a:solidFill>
                <a:latin typeface="Cambria" pitchFamily="34" charset="0"/>
                <a:ea typeface="Cambria" pitchFamily="34" charset="-122"/>
                <a:cs typeface="Cambria" pitchFamily="34" charset="-120"/>
              </a:rPr>
              <a:t>Four Stage Pipeline</a:t>
            </a:r>
            <a:endParaRPr lang="en-US" sz="3200" dirty="0"/>
          </a:p>
        </p:txBody>
      </p:sp>
      <p:sp>
        <p:nvSpPr>
          <p:cNvPr id="28" name="Text 26"/>
          <p:cNvSpPr txBox="1"/>
          <p:nvPr/>
        </p:nvSpPr>
        <p:spPr>
          <a:xfrm>
            <a:off x="640080" y="5440680"/>
            <a:ext cx="10881360" cy="365760"/>
          </a:xfrm>
          <a:prstGeom prst="rect">
            <a:avLst/>
          </a:prstGeom>
          <a:noFill/>
          <a:ln/>
        </p:spPr>
        <p:txBody>
          <a:bodyPr wrap="square" lIns="0" tIns="0" rIns="0" bIns="0" rtlCol="0" anchor="ctr"/>
          <a:lstStyle/>
          <a:p>
            <a:pPr marL="0" indent="0">
              <a:buNone/>
            </a:pPr>
            <a:r>
              <a:rPr lang="en-US" sz="1200" i="1" dirty="0">
                <a:solidFill>
                  <a:srgbClr val="6B6B63"/>
                </a:solidFill>
                <a:latin typeface="Calibri" pitchFamily="34" charset="0"/>
                <a:ea typeface="Calibri" pitchFamily="34" charset="-122"/>
                <a:cs typeface="Calibri" pitchFamily="34" charset="-120"/>
              </a:rPr>
              <a:t>Status: Stage 1 complete. RNA and protein encoders embedded, validated, and analyzed across probing (including codon usage bias and secondary structure), CKA, CCA, cross-modal retrieval, UMAP, and attention-motif interpretability. Now moving into Stage 2.</a:t>
            </a:r>
            <a:endParaRPr lang="en-US" sz="1200" dirty="0"/>
          </a:p>
        </p:txBody>
      </p:sp>
      <p:sp>
        <p:nvSpPr>
          <p:cNvPr id="29" name="Rectangle 28"/>
          <p:cNvSpPr/>
          <p:nvPr/>
        </p:nvSpPr>
        <p:spPr>
          <a:xfrm>
            <a:off x="777240" y="2880360"/>
            <a:ext cx="10561320"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2331720"/>
            <a:ext cx="2542032" cy="411480"/>
          </a:xfrm>
          <a:prstGeom prst="rect">
            <a:avLst/>
          </a:prstGeom>
          <a:noFill/>
        </p:spPr>
        <p:txBody>
          <a:bodyPr wrap="square">
            <a:spAutoFit/>
          </a:bodyPr>
          <a:lstStyle/>
          <a:p>
            <a:pPr algn="l"/>
            <a:r>
              <a:rPr sz="2200" b="1" i="0">
                <a:solidFill>
                  <a:srgbClr val="2C5F2D"/>
                </a:solidFill>
                <a:latin typeface="Cambria"/>
              </a:rPr>
              <a:t>01</a:t>
            </a:r>
          </a:p>
        </p:txBody>
      </p:sp>
      <p:sp>
        <p:nvSpPr>
          <p:cNvPr id="31" name="Rectangle 30"/>
          <p:cNvSpPr/>
          <p:nvPr/>
        </p:nvSpPr>
        <p:spPr>
          <a:xfrm>
            <a:off x="658368"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3063240"/>
            <a:ext cx="2542032" cy="457200"/>
          </a:xfrm>
          <a:prstGeom prst="rect">
            <a:avLst/>
          </a:prstGeom>
          <a:noFill/>
        </p:spPr>
        <p:txBody>
          <a:bodyPr wrap="square">
            <a:spAutoFit/>
          </a:bodyPr>
          <a:lstStyle/>
          <a:p>
            <a:pPr algn="l"/>
            <a:r>
              <a:rPr sz="1600" b="0" i="0">
                <a:solidFill>
                  <a:srgbClr val="222222"/>
                </a:solidFill>
                <a:latin typeface="Cambria"/>
              </a:rPr>
              <a:t>Representation Analysis</a:t>
            </a:r>
          </a:p>
        </p:txBody>
      </p:sp>
      <p:sp>
        <p:nvSpPr>
          <p:cNvPr id="34" name="TextBox 33"/>
          <p:cNvSpPr txBox="1"/>
          <p:nvPr/>
        </p:nvSpPr>
        <p:spPr>
          <a:xfrm>
            <a:off x="640080" y="3474720"/>
            <a:ext cx="2450591" cy="1005840"/>
          </a:xfrm>
          <a:prstGeom prst="rect">
            <a:avLst/>
          </a:prstGeom>
          <a:noFill/>
        </p:spPr>
        <p:txBody>
          <a:bodyPr wrap="square">
            <a:spAutoFit/>
          </a:bodyPr>
          <a:lstStyle/>
          <a:p>
            <a:pPr algn="l"/>
            <a:r>
              <a:rPr sz="1100" b="0" i="0">
                <a:solidFill>
                  <a:srgbClr val="6B6B63"/>
                </a:solidFill>
                <a:latin typeface="Calibri"/>
              </a:rPr>
              <a:t>Check what the frozen encoders already know and how related they are.</a:t>
            </a:r>
          </a:p>
        </p:txBody>
      </p:sp>
      <p:sp>
        <p:nvSpPr>
          <p:cNvPr id="35" name="TextBox 34"/>
          <p:cNvSpPr txBox="1"/>
          <p:nvPr/>
        </p:nvSpPr>
        <p:spPr>
          <a:xfrm>
            <a:off x="3438144" y="2331720"/>
            <a:ext cx="2542032" cy="411480"/>
          </a:xfrm>
          <a:prstGeom prst="rect">
            <a:avLst/>
          </a:prstGeom>
          <a:noFill/>
        </p:spPr>
        <p:txBody>
          <a:bodyPr wrap="square">
            <a:spAutoFit/>
          </a:bodyPr>
          <a:lstStyle/>
          <a:p>
            <a:pPr algn="l"/>
            <a:r>
              <a:rPr sz="2200" b="1" i="0">
                <a:solidFill>
                  <a:srgbClr val="2C5F2D"/>
                </a:solidFill>
                <a:latin typeface="Cambria"/>
              </a:rPr>
              <a:t>02</a:t>
            </a:r>
          </a:p>
        </p:txBody>
      </p:sp>
      <p:sp>
        <p:nvSpPr>
          <p:cNvPr id="36" name="Rectangle 35"/>
          <p:cNvSpPr/>
          <p:nvPr/>
        </p:nvSpPr>
        <p:spPr>
          <a:xfrm>
            <a:off x="3456432"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38144" y="3355848"/>
            <a:ext cx="2542032" cy="457200"/>
          </a:xfrm>
          <a:prstGeom prst="rect">
            <a:avLst/>
          </a:prstGeom>
          <a:noFill/>
        </p:spPr>
        <p:txBody>
          <a:bodyPr wrap="square">
            <a:spAutoFit/>
          </a:bodyPr>
          <a:lstStyle/>
          <a:p>
            <a:pPr algn="l"/>
            <a:r>
              <a:rPr sz="1600" b="0" i="0">
                <a:solidFill>
                  <a:srgbClr val="222222"/>
                </a:solidFill>
                <a:latin typeface="Cambria"/>
              </a:rPr>
              <a:t>Define Alignment</a:t>
            </a:r>
          </a:p>
        </p:txBody>
      </p:sp>
      <p:sp>
        <p:nvSpPr>
          <p:cNvPr id="38" name="TextBox 37"/>
          <p:cNvSpPr txBox="1"/>
          <p:nvPr/>
        </p:nvSpPr>
        <p:spPr>
          <a:xfrm>
            <a:off x="3438144" y="3767328"/>
            <a:ext cx="2450591" cy="1005840"/>
          </a:xfrm>
          <a:prstGeom prst="rect">
            <a:avLst/>
          </a:prstGeom>
          <a:noFill/>
        </p:spPr>
        <p:txBody>
          <a:bodyPr wrap="square">
            <a:spAutoFit/>
          </a:bodyPr>
          <a:lstStyle/>
          <a:p>
            <a:pPr algn="l"/>
            <a:r>
              <a:rPr sz="1100" b="0" i="0">
                <a:solidFill>
                  <a:srgbClr val="6B6B63"/>
                </a:solidFill>
                <a:latin typeface="Calibri"/>
              </a:rPr>
              <a:t>Decide what a meaningful alignment target looks like, from Stage 1's findings.</a:t>
            </a:r>
          </a:p>
        </p:txBody>
      </p:sp>
      <p:sp>
        <p:nvSpPr>
          <p:cNvPr id="39" name="TextBox 38"/>
          <p:cNvSpPr txBox="1"/>
          <p:nvPr/>
        </p:nvSpPr>
        <p:spPr>
          <a:xfrm>
            <a:off x="6236208" y="2331720"/>
            <a:ext cx="2542032" cy="411480"/>
          </a:xfrm>
          <a:prstGeom prst="rect">
            <a:avLst/>
          </a:prstGeom>
          <a:noFill/>
        </p:spPr>
        <p:txBody>
          <a:bodyPr wrap="square">
            <a:spAutoFit/>
          </a:bodyPr>
          <a:lstStyle/>
          <a:p>
            <a:pPr algn="l"/>
            <a:r>
              <a:rPr sz="2200" b="1" i="0">
                <a:solidFill>
                  <a:srgbClr val="2C5F2D"/>
                </a:solidFill>
                <a:latin typeface="Cambria"/>
              </a:rPr>
              <a:t>03</a:t>
            </a:r>
          </a:p>
        </p:txBody>
      </p:sp>
      <p:sp>
        <p:nvSpPr>
          <p:cNvPr id="40" name="Rectangle 39"/>
          <p:cNvSpPr/>
          <p:nvPr/>
        </p:nvSpPr>
        <p:spPr>
          <a:xfrm>
            <a:off x="6254496"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36208" y="3063240"/>
            <a:ext cx="2542032" cy="457200"/>
          </a:xfrm>
          <a:prstGeom prst="rect">
            <a:avLst/>
          </a:prstGeom>
          <a:noFill/>
        </p:spPr>
        <p:txBody>
          <a:bodyPr wrap="square">
            <a:spAutoFit/>
          </a:bodyPr>
          <a:lstStyle/>
          <a:p>
            <a:pPr algn="l"/>
            <a:r>
              <a:rPr sz="1600" b="0" i="0">
                <a:solidFill>
                  <a:srgbClr val="222222"/>
                </a:solidFill>
                <a:latin typeface="Cambria"/>
              </a:rPr>
              <a:t>Fusion</a:t>
            </a:r>
          </a:p>
        </p:txBody>
      </p:sp>
      <p:sp>
        <p:nvSpPr>
          <p:cNvPr id="42" name="TextBox 41"/>
          <p:cNvSpPr txBox="1"/>
          <p:nvPr/>
        </p:nvSpPr>
        <p:spPr>
          <a:xfrm>
            <a:off x="6236208" y="3474720"/>
            <a:ext cx="2450591" cy="1005840"/>
          </a:xfrm>
          <a:prstGeom prst="rect">
            <a:avLst/>
          </a:prstGeom>
          <a:noFill/>
        </p:spPr>
        <p:txBody>
          <a:bodyPr wrap="square">
            <a:spAutoFit/>
          </a:bodyPr>
          <a:lstStyle/>
          <a:p>
            <a:pPr algn="l"/>
            <a:r>
              <a:rPr sz="1100" b="0" i="0">
                <a:solidFill>
                  <a:srgbClr val="6B6B63"/>
                </a:solidFill>
                <a:latin typeface="Calibri"/>
              </a:rPr>
              <a:t>Build the architecture that combines the two modalities.</a:t>
            </a:r>
          </a:p>
        </p:txBody>
      </p:sp>
      <p:sp>
        <p:nvSpPr>
          <p:cNvPr id="43" name="TextBox 42"/>
          <p:cNvSpPr txBox="1"/>
          <p:nvPr/>
        </p:nvSpPr>
        <p:spPr>
          <a:xfrm>
            <a:off x="9034272" y="2331720"/>
            <a:ext cx="2542032" cy="411480"/>
          </a:xfrm>
          <a:prstGeom prst="rect">
            <a:avLst/>
          </a:prstGeom>
          <a:noFill/>
        </p:spPr>
        <p:txBody>
          <a:bodyPr wrap="square">
            <a:spAutoFit/>
          </a:bodyPr>
          <a:lstStyle/>
          <a:p>
            <a:pPr algn="l"/>
            <a:r>
              <a:rPr sz="2200" b="1" i="0">
                <a:solidFill>
                  <a:srgbClr val="2C5F2D"/>
                </a:solidFill>
                <a:latin typeface="Cambria"/>
              </a:rPr>
              <a:t>04</a:t>
            </a:r>
          </a:p>
        </p:txBody>
      </p:sp>
      <p:sp>
        <p:nvSpPr>
          <p:cNvPr id="44" name="Rectangle 43"/>
          <p:cNvSpPr/>
          <p:nvPr/>
        </p:nvSpPr>
        <p:spPr>
          <a:xfrm>
            <a:off x="9052560" y="2816352"/>
            <a:ext cx="146304" cy="18288"/>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034272" y="3063240"/>
            <a:ext cx="2542032" cy="457200"/>
          </a:xfrm>
          <a:prstGeom prst="rect">
            <a:avLst/>
          </a:prstGeom>
          <a:noFill/>
        </p:spPr>
        <p:txBody>
          <a:bodyPr wrap="square">
            <a:spAutoFit/>
          </a:bodyPr>
          <a:lstStyle/>
          <a:p>
            <a:pPr algn="l"/>
            <a:r>
              <a:rPr sz="1600" b="0" i="0">
                <a:solidFill>
                  <a:srgbClr val="222222"/>
                </a:solidFill>
                <a:latin typeface="Cambria"/>
              </a:rPr>
              <a:t>Benchmarking</a:t>
            </a:r>
          </a:p>
        </p:txBody>
      </p:sp>
      <p:sp>
        <p:nvSpPr>
          <p:cNvPr id="46" name="TextBox 45"/>
          <p:cNvSpPr txBox="1"/>
          <p:nvPr/>
        </p:nvSpPr>
        <p:spPr>
          <a:xfrm>
            <a:off x="9034272" y="3474720"/>
            <a:ext cx="2450591" cy="1005840"/>
          </a:xfrm>
          <a:prstGeom prst="rect">
            <a:avLst/>
          </a:prstGeom>
          <a:noFill/>
        </p:spPr>
        <p:txBody>
          <a:bodyPr wrap="square">
            <a:spAutoFit/>
          </a:bodyPr>
          <a:lstStyle/>
          <a:p>
            <a:pPr algn="l"/>
            <a:r>
              <a:rPr sz="1100" b="0" i="0">
                <a:solidFill>
                  <a:srgbClr val="6B6B63"/>
                </a:solidFill>
                <a:latin typeface="Calibri"/>
              </a:rPr>
              <a:t>Test whether fusion beats the best single modality model.</a:t>
            </a:r>
          </a:p>
        </p:txBody>
      </p:sp>
      <p:sp>
        <p:nvSpPr>
          <p:cNvPr id="32" name="TextBox 31"/>
          <p:cNvSpPr txBox="1"/>
          <p:nvPr/>
        </p:nvSpPr>
        <p:spPr>
          <a:xfrm>
            <a:off x="3438144" y="3063240"/>
            <a:ext cx="2542032" cy="274320"/>
          </a:xfrm>
          <a:prstGeom prst="rect">
            <a:avLst/>
          </a:prstGeom>
          <a:noFill/>
        </p:spPr>
        <p:txBody>
          <a:bodyPr wrap="square">
            <a:spAutoFit/>
          </a:bodyPr>
          <a:lstStyle/>
          <a:p>
            <a:pPr algn="l"/>
            <a:r>
              <a:rPr sz="1000" b="1" i="0">
                <a:solidFill>
                  <a:srgbClr val="2C5F2D"/>
                </a:solidFill>
                <a:latin typeface="Calibri"/>
              </a:rPr>
              <a:t>CURRENT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000000" cy="320040"/>
          </a:xfrm>
          <a:prstGeom prst="rect">
            <a:avLst/>
          </a:prstGeom>
          <a:noFill/>
        </p:spPr>
        <p:txBody>
          <a:bodyPr wrap="square" lIns="0" rIns="0" tIns="0" bIns="0" anchor="t">
            <a:spAutoFit/>
          </a:bodyPr>
          <a:lstStyle/>
          <a:p>
            <a:pPr algn="l"/>
            <a:r>
              <a:rPr sz="1300" b="1">
                <a:solidFill>
                  <a:srgbClr val="2C5F2D"/>
                </a:solidFill>
                <a:latin typeface="Calibri"/>
              </a:rPr>
              <a:t>RELATED WORK</a:t>
            </a:r>
          </a:p>
        </p:txBody>
      </p:sp>
      <p:sp>
        <p:nvSpPr>
          <p:cNvPr id="3" name="TextBox 2"/>
          <p:cNvSpPr txBox="1"/>
          <p:nvPr/>
        </p:nvSpPr>
        <p:spPr>
          <a:xfrm>
            <a:off x="640080" y="777240"/>
            <a:ext cx="10911840" cy="600000"/>
          </a:xfrm>
          <a:prstGeom prst="rect">
            <a:avLst/>
          </a:prstGeom>
          <a:noFill/>
        </p:spPr>
        <p:txBody>
          <a:bodyPr wrap="square" lIns="0" rIns="0" tIns="0" bIns="0" anchor="t">
            <a:spAutoFit/>
          </a:bodyPr>
          <a:lstStyle/>
          <a:p>
            <a:pPr algn="l"/>
            <a:r>
              <a:rPr sz="2800" b="1">
                <a:solidFill>
                  <a:srgbClr val="222222"/>
                </a:solidFill>
                <a:latin typeface="Cambria"/>
              </a:rPr>
              <a:t>How the Literature Shapes Our Architecture</a:t>
            </a:r>
          </a:p>
        </p:txBody>
      </p:sp>
      <p:sp>
        <p:nvSpPr>
          <p:cNvPr id="4" name="TextBox 3"/>
          <p:cNvSpPr txBox="1"/>
          <p:nvPr/>
        </p:nvSpPr>
        <p:spPr>
          <a:xfrm>
            <a:off x="640080" y="1400000"/>
            <a:ext cx="10911840" cy="380000"/>
          </a:xfrm>
          <a:prstGeom prst="rect">
            <a:avLst/>
          </a:prstGeom>
          <a:noFill/>
        </p:spPr>
        <p:txBody>
          <a:bodyPr wrap="square" lIns="0" rIns="0" tIns="0" bIns="0" anchor="t">
            <a:spAutoFit/>
          </a:bodyPr>
          <a:lstStyle/>
          <a:p>
            <a:pPr algn="l"/>
            <a:r>
              <a:rPr sz="1400" b="0">
                <a:solidFill>
                  <a:srgbClr val="222222"/>
                </a:solidFill>
                <a:latin typeface="Calibri"/>
              </a:rPr>
              <a:t>Our encoders stay NT and ESM-2. Each paper contributes a design idea at the stage where it fits.</a:t>
            </a:r>
          </a:p>
        </p:txBody>
      </p:sp>
      <p:sp>
        <p:nvSpPr>
          <p:cNvPr id="5" name="Rectangle 4"/>
          <p:cNvSpPr/>
          <p:nvPr/>
        </p:nvSpPr>
        <p:spPr>
          <a:xfrm>
            <a:off x="5171920" y="560000"/>
            <a:ext cx="146304" cy="146304"/>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1920" y="500000"/>
            <a:ext cx="1250000" cy="280000"/>
          </a:xfrm>
          <a:prstGeom prst="rect">
            <a:avLst/>
          </a:prstGeom>
          <a:noFill/>
        </p:spPr>
        <p:txBody>
          <a:bodyPr wrap="square" lIns="0" rIns="0" tIns="0" bIns="0" anchor="t">
            <a:spAutoFit/>
          </a:bodyPr>
          <a:lstStyle/>
          <a:p>
            <a:pPr algn="l"/>
            <a:r>
              <a:rPr sz="1200" b="1">
                <a:solidFill>
                  <a:srgbClr val="222222"/>
                </a:solidFill>
                <a:latin typeface="Calibri"/>
              </a:rPr>
              <a:t>BioLangFusion</a:t>
            </a:r>
          </a:p>
        </p:txBody>
      </p:sp>
      <p:sp>
        <p:nvSpPr>
          <p:cNvPr id="7" name="Rectangle 6"/>
          <p:cNvSpPr/>
          <p:nvPr/>
        </p:nvSpPr>
        <p:spPr>
          <a:xfrm>
            <a:off x="6621920" y="560000"/>
            <a:ext cx="146304" cy="146304"/>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1920" y="500000"/>
            <a:ext cx="950000" cy="280000"/>
          </a:xfrm>
          <a:prstGeom prst="rect">
            <a:avLst/>
          </a:prstGeom>
          <a:noFill/>
        </p:spPr>
        <p:txBody>
          <a:bodyPr wrap="square" lIns="0" rIns="0" tIns="0" bIns="0" anchor="t">
            <a:spAutoFit/>
          </a:bodyPr>
          <a:lstStyle/>
          <a:p>
            <a:pPr algn="l"/>
            <a:r>
              <a:rPr sz="1200" b="1">
                <a:solidFill>
                  <a:srgbClr val="222222"/>
                </a:solidFill>
                <a:latin typeface="Calibri"/>
              </a:rPr>
              <a:t>Isoformer</a:t>
            </a:r>
          </a:p>
        </p:txBody>
      </p:sp>
      <p:sp>
        <p:nvSpPr>
          <p:cNvPr id="9" name="Rectangle 8"/>
          <p:cNvSpPr/>
          <p:nvPr/>
        </p:nvSpPr>
        <p:spPr>
          <a:xfrm>
            <a:off x="7771920" y="560000"/>
            <a:ext cx="146304" cy="146304"/>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91920" y="500000"/>
            <a:ext cx="600000" cy="280000"/>
          </a:xfrm>
          <a:prstGeom prst="rect">
            <a:avLst/>
          </a:prstGeom>
          <a:noFill/>
        </p:spPr>
        <p:txBody>
          <a:bodyPr wrap="square" lIns="0" rIns="0" tIns="0" bIns="0" anchor="t">
            <a:spAutoFit/>
          </a:bodyPr>
          <a:lstStyle/>
          <a:p>
            <a:pPr algn="l"/>
            <a:r>
              <a:rPr sz="1200" b="1">
                <a:solidFill>
                  <a:srgbClr val="222222"/>
                </a:solidFill>
                <a:latin typeface="Calibri"/>
              </a:rPr>
              <a:t>CDT</a:t>
            </a:r>
          </a:p>
        </p:txBody>
      </p:sp>
      <p:sp>
        <p:nvSpPr>
          <p:cNvPr id="11" name="Rectangle 10"/>
          <p:cNvSpPr/>
          <p:nvPr/>
        </p:nvSpPr>
        <p:spPr>
          <a:xfrm>
            <a:off x="8571920" y="560000"/>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1920" y="500000"/>
            <a:ext cx="1250000" cy="280000"/>
          </a:xfrm>
          <a:prstGeom prst="rect">
            <a:avLst/>
          </a:prstGeom>
          <a:noFill/>
        </p:spPr>
        <p:txBody>
          <a:bodyPr wrap="square" lIns="0" rIns="0" tIns="0" bIns="0" anchor="t">
            <a:spAutoFit/>
          </a:bodyPr>
          <a:lstStyle/>
          <a:p>
            <a:pPr algn="l"/>
            <a:r>
              <a:rPr sz="1200" b="1">
                <a:solidFill>
                  <a:srgbClr val="222222"/>
                </a:solidFill>
                <a:latin typeface="Calibri"/>
              </a:rPr>
              <a:t>Coupled Mamba</a:t>
            </a:r>
          </a:p>
        </p:txBody>
      </p:sp>
      <p:sp>
        <p:nvSpPr>
          <p:cNvPr id="13" name="Rectangle 12"/>
          <p:cNvSpPr/>
          <p:nvPr/>
        </p:nvSpPr>
        <p:spPr>
          <a:xfrm>
            <a:off x="10021920" y="560000"/>
            <a:ext cx="146304" cy="14630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920" y="500000"/>
            <a:ext cx="1330000" cy="280000"/>
          </a:xfrm>
          <a:prstGeom prst="rect">
            <a:avLst/>
          </a:prstGeom>
          <a:noFill/>
        </p:spPr>
        <p:txBody>
          <a:bodyPr wrap="square" lIns="0" rIns="0" tIns="0" bIns="0" anchor="t">
            <a:spAutoFit/>
          </a:bodyPr>
          <a:lstStyle/>
          <a:p>
            <a:pPr algn="l"/>
            <a:r>
              <a:rPr sz="1200" b="1">
                <a:solidFill>
                  <a:srgbClr val="222222"/>
                </a:solidFill>
                <a:latin typeface="Calibri"/>
              </a:rPr>
              <a:t>Alignment Theory</a:t>
            </a:r>
          </a:p>
        </p:txBody>
      </p:sp>
      <p:sp>
        <p:nvSpPr>
          <p:cNvPr id="15" name="Rectangle 14"/>
          <p:cNvSpPr/>
          <p:nvPr/>
        </p:nvSpPr>
        <p:spPr>
          <a:xfrm>
            <a:off x="64008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1</a:t>
            </a:r>
          </a:p>
          <a:p>
            <a:pPr algn="l"/>
            <a:r>
              <a:rPr sz="1700" b="1">
                <a:solidFill>
                  <a:srgbClr val="222222"/>
                </a:solidFill>
                <a:latin typeface="Cambria"/>
              </a:rPr>
              <a:t>Frozen Encoders</a:t>
            </a:r>
          </a:p>
          <a:p>
            <a:pPr algn="l"/>
            <a:r>
              <a:rPr sz="1100" b="0">
                <a:solidFill>
                  <a:srgbClr val="555555"/>
                </a:solidFill>
                <a:latin typeface="Calibri"/>
              </a:rPr>
              <a:t>NT (RNA) + ESM-2 (protein)</a:t>
            </a:r>
          </a:p>
        </p:txBody>
      </p:sp>
      <p:sp>
        <p:nvSpPr>
          <p:cNvPr id="17" name="Right Arrow 16"/>
          <p:cNvSpPr/>
          <p:nvPr/>
        </p:nvSpPr>
        <p:spPr>
          <a:xfrm>
            <a:off x="319304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4304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304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2</a:t>
            </a:r>
          </a:p>
          <a:p>
            <a:pPr algn="l"/>
            <a:r>
              <a:rPr sz="1700" b="1">
                <a:solidFill>
                  <a:srgbClr val="222222"/>
                </a:solidFill>
                <a:latin typeface="Cambria"/>
              </a:rPr>
              <a:t>Align</a:t>
            </a:r>
          </a:p>
          <a:p>
            <a:pPr algn="l"/>
            <a:r>
              <a:rPr sz="1100" b="0">
                <a:solidFill>
                  <a:srgbClr val="555555"/>
                </a:solidFill>
                <a:latin typeface="Calibri"/>
              </a:rPr>
              <a:t>Choose the alignment target</a:t>
            </a:r>
          </a:p>
        </p:txBody>
      </p:sp>
      <p:sp>
        <p:nvSpPr>
          <p:cNvPr id="20" name="Right Arrow 19"/>
          <p:cNvSpPr/>
          <p:nvPr/>
        </p:nvSpPr>
        <p:spPr>
          <a:xfrm>
            <a:off x="599600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600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600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 3</a:t>
            </a:r>
          </a:p>
          <a:p>
            <a:pPr algn="l"/>
            <a:r>
              <a:rPr sz="1700" b="1">
                <a:solidFill>
                  <a:srgbClr val="222222"/>
                </a:solidFill>
                <a:latin typeface="Cambria"/>
              </a:rPr>
              <a:t>Fuse</a:t>
            </a:r>
          </a:p>
          <a:p>
            <a:pPr algn="l"/>
            <a:r>
              <a:rPr sz="1100" b="0">
                <a:solidFill>
                  <a:srgbClr val="555555"/>
                </a:solidFill>
                <a:latin typeface="Calibri"/>
              </a:rPr>
              <a:t>Cross-attention and Coupled-Mamba</a:t>
            </a:r>
          </a:p>
        </p:txBody>
      </p:sp>
      <p:sp>
        <p:nvSpPr>
          <p:cNvPr id="23" name="Right Arrow 22"/>
          <p:cNvSpPr/>
          <p:nvPr/>
        </p:nvSpPr>
        <p:spPr>
          <a:xfrm>
            <a:off x="8798960" y="2300000"/>
            <a:ext cx="200000" cy="200000"/>
          </a:xfrm>
          <a:prstGeom prst="rightArrow">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48960" y="1950000"/>
            <a:ext cx="2502960" cy="900000"/>
          </a:xfrm>
          <a:prstGeom prst="rect">
            <a:avLst/>
          </a:prstGeom>
          <a:solidFill>
            <a:srgbClr val="F3F6F3"/>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8960" y="2040000"/>
            <a:ext cx="2502960" cy="720000"/>
          </a:xfrm>
          <a:prstGeom prst="rect">
            <a:avLst/>
          </a:prstGeom>
          <a:noFill/>
        </p:spPr>
        <p:txBody>
          <a:bodyPr wrap="square" lIns="120000" rIns="120000" tIns="0" bIns="0" anchor="t">
            <a:spAutoFit/>
          </a:bodyPr>
          <a:lstStyle/>
          <a:p>
            <a:pPr algn="l"/>
            <a:r>
              <a:rPr sz="1000" b="1">
                <a:solidFill>
                  <a:srgbClr val="2C5F2D"/>
                </a:solidFill>
                <a:latin typeface="Calibri"/>
              </a:rPr>
              <a:t>STAGES 3 AND 4</a:t>
            </a:r>
          </a:p>
          <a:p>
            <a:pPr algn="l"/>
            <a:r>
              <a:rPr sz="1700" b="1">
                <a:solidFill>
                  <a:srgbClr val="222222"/>
                </a:solidFill>
                <a:latin typeface="Cambria"/>
              </a:rPr>
              <a:t>Test</a:t>
            </a:r>
          </a:p>
          <a:p>
            <a:pPr algn="l"/>
            <a:r>
              <a:rPr sz="1100" b="0">
                <a:solidFill>
                  <a:srgbClr val="555555"/>
                </a:solidFill>
                <a:latin typeface="Calibri"/>
              </a:rPr>
              <a:t>Ablation and benchmarking</a:t>
            </a:r>
          </a:p>
        </p:txBody>
      </p:sp>
      <p:sp>
        <p:nvSpPr>
          <p:cNvPr id="26" name="Rectangle 25"/>
          <p:cNvSpPr/>
          <p:nvPr/>
        </p:nvSpPr>
        <p:spPr>
          <a:xfrm>
            <a:off x="188698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030000"/>
            <a:ext cx="64008" cy="580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08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Alignment Theory</a:t>
            </a:r>
          </a:p>
          <a:p>
            <a:pPr algn="l"/>
            <a:r>
              <a:rPr sz="1050" b="0">
                <a:solidFill>
                  <a:srgbClr val="222222"/>
                </a:solidFill>
                <a:latin typeface="Calibri"/>
              </a:rPr>
              <a:t>Exit test: place the pair on the redundancy vs. uniqueness map</a:t>
            </a:r>
          </a:p>
        </p:txBody>
      </p:sp>
      <p:sp>
        <p:nvSpPr>
          <p:cNvPr id="30" name="Rectangle 29"/>
          <p:cNvSpPr/>
          <p:nvPr/>
        </p:nvSpPr>
        <p:spPr>
          <a:xfrm>
            <a:off x="64008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368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08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Uses NT v2 + ESM-2 (plus RNA-FM), all kept frozen</a:t>
            </a:r>
          </a:p>
        </p:txBody>
      </p:sp>
      <p:sp>
        <p:nvSpPr>
          <p:cNvPr id="33" name="Rectangle 32"/>
          <p:cNvSpPr/>
          <p:nvPr/>
        </p:nvSpPr>
        <p:spPr>
          <a:xfrm>
            <a:off x="64008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43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08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Uses NT v2 + ESM-2; trains only the fusion layer and head</a:t>
            </a:r>
          </a:p>
        </p:txBody>
      </p:sp>
      <p:sp>
        <p:nvSpPr>
          <p:cNvPr id="36" name="Rectangle 35"/>
          <p:cNvSpPr/>
          <p:nvPr/>
        </p:nvSpPr>
        <p:spPr>
          <a:xfrm>
            <a:off x="468994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4304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43040" y="3030000"/>
            <a:ext cx="64008" cy="580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9304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Alignment Theory</a:t>
            </a:r>
          </a:p>
          <a:p>
            <a:pPr algn="l"/>
            <a:r>
              <a:rPr sz="1050" b="0">
                <a:solidFill>
                  <a:srgbClr val="222222"/>
                </a:solidFill>
                <a:latin typeface="Calibri"/>
              </a:rPr>
              <a:t>Alignment-performance slope: does an alignment loss help?</a:t>
            </a:r>
          </a:p>
        </p:txBody>
      </p:sp>
      <p:sp>
        <p:nvSpPr>
          <p:cNvPr id="40" name="Rectangle 39"/>
          <p:cNvSpPr/>
          <p:nvPr/>
        </p:nvSpPr>
        <p:spPr>
          <a:xfrm>
            <a:off x="344304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43040" y="368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9304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Codon-resolution resampling, if alignment turns out high</a:t>
            </a:r>
          </a:p>
        </p:txBody>
      </p:sp>
      <p:sp>
        <p:nvSpPr>
          <p:cNvPr id="43" name="Rectangle 42"/>
          <p:cNvSpPr/>
          <p:nvPr/>
        </p:nvSpPr>
        <p:spPr>
          <a:xfrm>
            <a:off x="344304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43040" y="4330000"/>
            <a:ext cx="64008" cy="5800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9304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CDT</a:t>
            </a:r>
          </a:p>
          <a:p>
            <a:pPr algn="l"/>
            <a:r>
              <a:rPr sz="1050" b="0">
                <a:solidFill>
                  <a:srgbClr val="222222"/>
                </a:solidFill>
                <a:latin typeface="Calibri"/>
              </a:rPr>
              <a:t>Decide alignment per modality pair, not one method for all (Q3)</a:t>
            </a:r>
          </a:p>
        </p:txBody>
      </p:sp>
      <p:sp>
        <p:nvSpPr>
          <p:cNvPr id="46" name="Rectangle 45"/>
          <p:cNvSpPr/>
          <p:nvPr/>
        </p:nvSpPr>
        <p:spPr>
          <a:xfrm>
            <a:off x="749290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4600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46000" y="30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9600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Cross-attention fusion, primary candidate</a:t>
            </a:r>
          </a:p>
        </p:txBody>
      </p:sp>
      <p:sp>
        <p:nvSpPr>
          <p:cNvPr id="50" name="Rectangle 49"/>
          <p:cNvSpPr/>
          <p:nvPr/>
        </p:nvSpPr>
        <p:spPr>
          <a:xfrm>
            <a:off x="6246000" y="36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46000" y="3680000"/>
            <a:ext cx="64008" cy="58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96000" y="3720000"/>
            <a:ext cx="2282960" cy="500000"/>
          </a:xfrm>
          <a:prstGeom prst="rect">
            <a:avLst/>
          </a:prstGeom>
          <a:noFill/>
        </p:spPr>
        <p:txBody>
          <a:bodyPr wrap="square" lIns="0" rIns="0" tIns="0" bIns="0" anchor="t">
            <a:spAutoFit/>
          </a:bodyPr>
          <a:lstStyle/>
          <a:p>
            <a:pPr algn="l"/>
            <a:r>
              <a:rPr sz="1100" b="1">
                <a:solidFill>
                  <a:srgbClr val="222222"/>
                </a:solidFill>
                <a:latin typeface="Calibri"/>
              </a:rPr>
              <a:t>Coupled Mamba</a:t>
            </a:r>
          </a:p>
          <a:p>
            <a:pPr algn="l"/>
            <a:r>
              <a:rPr sz="1050" b="0">
                <a:solidFill>
                  <a:srgbClr val="222222"/>
                </a:solidFill>
                <a:latin typeface="Calibri"/>
              </a:rPr>
              <a:t>Linear-cost, alignment-free fusion, primary candidate</a:t>
            </a:r>
          </a:p>
        </p:txBody>
      </p:sp>
      <p:sp>
        <p:nvSpPr>
          <p:cNvPr id="53" name="Rectangle 52"/>
          <p:cNvSpPr/>
          <p:nvPr/>
        </p:nvSpPr>
        <p:spPr>
          <a:xfrm>
            <a:off x="6246000" y="43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46000" y="4330000"/>
            <a:ext cx="64008" cy="58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96000" y="4370000"/>
            <a:ext cx="2282960" cy="500000"/>
          </a:xfrm>
          <a:prstGeom prst="rect">
            <a:avLst/>
          </a:prstGeom>
          <a:noFill/>
        </p:spPr>
        <p:txBody>
          <a:bodyPr wrap="square" lIns="0" rIns="0" tIns="0" bIns="0" anchor="t">
            <a:spAutoFit/>
          </a:bodyPr>
          <a:lstStyle/>
          <a:p>
            <a:pPr algn="l"/>
            <a:r>
              <a:rPr sz="1100" b="1">
                <a:solidFill>
                  <a:srgbClr val="222222"/>
                </a:solidFill>
                <a:latin typeface="Calibri"/>
              </a:rPr>
              <a:t>BioLangFusion</a:t>
            </a:r>
          </a:p>
          <a:p>
            <a:pPr algn="l"/>
            <a:r>
              <a:rPr sz="1050" b="0">
                <a:solidFill>
                  <a:srgbClr val="222222"/>
                </a:solidFill>
                <a:latin typeface="Calibri"/>
              </a:rPr>
              <a:t>Concat + MLP, the baseline every model must beat</a:t>
            </a:r>
          </a:p>
        </p:txBody>
      </p:sp>
      <p:sp>
        <p:nvSpPr>
          <p:cNvPr id="56" name="Rectangle 55"/>
          <p:cNvSpPr/>
          <p:nvPr/>
        </p:nvSpPr>
        <p:spPr>
          <a:xfrm>
            <a:off x="6246000" y="498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46000" y="4980000"/>
            <a:ext cx="64008" cy="5800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96000" y="5020000"/>
            <a:ext cx="2282960" cy="500000"/>
          </a:xfrm>
          <a:prstGeom prst="rect">
            <a:avLst/>
          </a:prstGeom>
          <a:noFill/>
        </p:spPr>
        <p:txBody>
          <a:bodyPr wrap="square" lIns="0" rIns="0" tIns="0" bIns="0" anchor="t">
            <a:spAutoFit/>
          </a:bodyPr>
          <a:lstStyle/>
          <a:p>
            <a:pPr algn="l"/>
            <a:r>
              <a:rPr sz="1100" b="1">
                <a:solidFill>
                  <a:srgbClr val="222222"/>
                </a:solidFill>
                <a:latin typeface="Calibri"/>
              </a:rPr>
              <a:t>CDT</a:t>
            </a:r>
          </a:p>
          <a:p>
            <a:pPr algn="l"/>
            <a:r>
              <a:rPr sz="1050" b="0">
                <a:solidFill>
                  <a:srgbClr val="222222"/>
                </a:solidFill>
                <a:latin typeface="Calibri"/>
              </a:rPr>
              <a:t>One-way DNA → RNA → protein attention, an interpretability idea</a:t>
            </a:r>
          </a:p>
        </p:txBody>
      </p:sp>
      <p:sp>
        <p:nvSpPr>
          <p:cNvPr id="59" name="Rectangle 58"/>
          <p:cNvSpPr/>
          <p:nvPr/>
        </p:nvSpPr>
        <p:spPr>
          <a:xfrm>
            <a:off x="10295868" y="2850000"/>
            <a:ext cx="9144" cy="180000"/>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048960" y="3030000"/>
            <a:ext cx="2502960" cy="580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48960" y="3030000"/>
            <a:ext cx="64008" cy="580000"/>
          </a:xfrm>
          <a:prstGeom prst="rect">
            <a:avLst/>
          </a:prstGeom>
          <a:solidFill>
            <a:srgbClr val="8DB4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98960" y="3070000"/>
            <a:ext cx="2282960" cy="500000"/>
          </a:xfrm>
          <a:prstGeom prst="rect">
            <a:avLst/>
          </a:prstGeom>
          <a:noFill/>
        </p:spPr>
        <p:txBody>
          <a:bodyPr wrap="square" lIns="0" rIns="0" tIns="0" bIns="0" anchor="t">
            <a:spAutoFit/>
          </a:bodyPr>
          <a:lstStyle/>
          <a:p>
            <a:pPr algn="l"/>
            <a:r>
              <a:rPr sz="1100" b="1">
                <a:solidFill>
                  <a:srgbClr val="222222"/>
                </a:solidFill>
                <a:latin typeface="Calibri"/>
              </a:rPr>
              <a:t>Isoformer</a:t>
            </a:r>
          </a:p>
          <a:p>
            <a:pPr algn="l"/>
            <a:r>
              <a:rPr sz="1050" b="0">
                <a:solidFill>
                  <a:srgbClr val="222222"/>
                </a:solidFill>
                <a:latin typeface="Calibri"/>
              </a:rPr>
              <a:t>Drop-one-encoder ablation: score should fall if fusion uses both</a:t>
            </a:r>
          </a:p>
        </p:txBody>
      </p:sp>
      <p:sp>
        <p:nvSpPr>
          <p:cNvPr id="63" name="Rectangle 62"/>
          <p:cNvSpPr/>
          <p:nvPr/>
        </p:nvSpPr>
        <p:spPr>
          <a:xfrm>
            <a:off x="640080" y="5820000"/>
            <a:ext cx="54864" cy="500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8680" y="5820000"/>
            <a:ext cx="10332720" cy="500000"/>
          </a:xfrm>
          <a:prstGeom prst="rect">
            <a:avLst/>
          </a:prstGeom>
          <a:noFill/>
        </p:spPr>
        <p:txBody>
          <a:bodyPr wrap="square" lIns="0" rIns="0" tIns="0" bIns="0" anchor="ctr">
            <a:spAutoFit/>
          </a:bodyPr>
          <a:lstStyle/>
          <a:p>
            <a:pPr algn="l"/>
            <a:r>
              <a:rPr sz="1400" b="0">
                <a:solidFill>
                  <a:srgbClr val="222222"/>
                </a:solidFill>
                <a:latin typeface="Cambria"/>
              </a:rPr>
              <a:t>Our contribution is the method for deciding whether and how to fuse, not a new fusion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STAGE 1 RESULTS</a:t>
            </a:r>
            <a:endParaRPr lang="en-US" sz="1300" dirty="0"/>
          </a:p>
        </p:txBody>
      </p:sp>
      <p:sp>
        <p:nvSpPr>
          <p:cNvPr id="3" name="Text 1"/>
          <p:cNvSpPr txBox="1"/>
          <p:nvPr/>
        </p:nvSpPr>
        <p:spPr>
          <a:xfrm>
            <a:off x="640080" y="777240"/>
            <a:ext cx="10881360" cy="685800"/>
          </a:xfrm>
          <a:prstGeom prst="rect">
            <a:avLst/>
          </a:prstGeom>
          <a:noFill/>
          <a:ln/>
        </p:spPr>
        <p:txBody>
          <a:bodyPr wrap="square" lIns="0" tIns="0" rIns="0" bIns="0" rtlCol="0" anchor="ctr"/>
          <a:lstStyle/>
          <a:p>
            <a:pPr marL="0" indent="0">
              <a:buNone/>
            </a:pPr>
            <a:r>
              <a:rPr lang="en-US" sz="2800" b="1" dirty="0">
                <a:solidFill>
                  <a:srgbClr val="222222"/>
                </a:solidFill>
                <a:latin typeface="Cambria" pitchFamily="34" charset="0"/>
                <a:ea typeface="Cambria" pitchFamily="34" charset="-122"/>
                <a:cs typeface="Cambria" pitchFamily="34" charset="-120"/>
              </a:rPr>
              <a:t>What the Frozen Encoders Already Know, and How Related They Are</a:t>
            </a:r>
            <a:endParaRPr lang="en-US" sz="2800" dirty="0"/>
          </a:p>
        </p:txBody>
      </p:sp>
      <p:pic>
        <p:nvPicPr>
          <p:cNvPr id="4" name="Picture 3" descr="layerwise_cka_heatmap.png"/>
          <p:cNvPicPr>
            <a:picLocks noChangeAspect="1"/>
          </p:cNvPicPr>
          <p:nvPr/>
        </p:nvPicPr>
        <p:blipFill>
          <a:blip r:embed="rId3"/>
          <a:stretch>
            <a:fillRect/>
          </a:stretch>
        </p:blipFill>
        <p:spPr>
          <a:xfrm>
            <a:off x="640080" y="1691640"/>
            <a:ext cx="4846320" cy="4337174"/>
          </a:xfrm>
          <a:prstGeom prst="rect">
            <a:avLst/>
          </a:prstGeom>
        </p:spPr>
      </p:pic>
      <p:sp>
        <p:nvSpPr>
          <p:cNvPr id="5" name="TextBox 4"/>
          <p:cNvSpPr txBox="1"/>
          <p:nvPr/>
        </p:nvSpPr>
        <p:spPr>
          <a:xfrm>
            <a:off x="640080" y="6028813"/>
            <a:ext cx="4846320" cy="320040"/>
          </a:xfrm>
          <a:prstGeom prst="rect">
            <a:avLst/>
          </a:prstGeom>
          <a:noFill/>
        </p:spPr>
        <p:txBody>
          <a:bodyPr wrap="square">
            <a:spAutoFit/>
          </a:bodyPr>
          <a:lstStyle/>
          <a:p>
            <a:pPr algn="l"/>
            <a:r>
              <a:rPr sz="1050" b="0" i="1">
                <a:solidFill>
                  <a:srgbClr val="6B6B63"/>
                </a:solidFill>
                <a:latin typeface="Calibri"/>
              </a:rPr>
              <a:t>Layer-wise CKA, RNA vs protein. Peak 0.400 sits at near-embedding layers.</a:t>
            </a:r>
          </a:p>
        </p:txBody>
      </p:sp>
      <p:sp>
        <p:nvSpPr>
          <p:cNvPr id="6" name="TextBox 5"/>
          <p:cNvSpPr txBox="1"/>
          <p:nvPr/>
        </p:nvSpPr>
        <p:spPr>
          <a:xfrm>
            <a:off x="5806440" y="1691640"/>
            <a:ext cx="5742432" cy="365760"/>
          </a:xfrm>
          <a:prstGeom prst="rect">
            <a:avLst/>
          </a:prstGeom>
          <a:noFill/>
        </p:spPr>
        <p:txBody>
          <a:bodyPr wrap="square">
            <a:spAutoFit/>
          </a:bodyPr>
          <a:lstStyle/>
          <a:p>
            <a:pPr algn="l"/>
            <a:r>
              <a:rPr sz="1500" b="1" i="0">
                <a:solidFill>
                  <a:srgbClr val="2C5F2D"/>
                </a:solidFill>
                <a:latin typeface="Cambria"/>
              </a:rPr>
              <a:t>Track A: Decodability</a:t>
            </a:r>
          </a:p>
        </p:txBody>
      </p:sp>
      <p:sp>
        <p:nvSpPr>
          <p:cNvPr id="7" name="TextBox 6"/>
          <p:cNvSpPr txBox="1"/>
          <p:nvPr/>
        </p:nvSpPr>
        <p:spPr>
          <a:xfrm>
            <a:off x="5806440" y="2084831"/>
            <a:ext cx="5742432" cy="320040"/>
          </a:xfrm>
          <a:prstGeom prst="rect">
            <a:avLst/>
          </a:prstGeom>
          <a:noFill/>
        </p:spPr>
        <p:txBody>
          <a:bodyPr wrap="square">
            <a:spAutoFit/>
          </a:bodyPr>
          <a:lstStyle/>
          <a:p>
            <a:pPr algn="l"/>
            <a:r>
              <a:rPr sz="1250" b="0" i="0">
                <a:solidFill>
                  <a:srgbClr val="222222"/>
                </a:solidFill>
                <a:latin typeface="Calibri"/>
              </a:rPr>
              <a:t>Decodability test: RNA R² = 0.015  ·  Protein R² = 0.103 (mRNA stability, leak-corrected — RNA no longer distinguishable from zero)</a:t>
            </a:r>
          </a:p>
        </p:txBody>
      </p:sp>
      <p:sp>
        <p:nvSpPr>
          <p:cNvPr id="8" name="TextBox 7"/>
          <p:cNvSpPr txBox="1"/>
          <p:nvPr/>
        </p:nvSpPr>
        <p:spPr>
          <a:xfrm>
            <a:off x="5806440" y="2377440"/>
            <a:ext cx="5742432" cy="320040"/>
          </a:xfrm>
          <a:prstGeom prst="rect">
            <a:avLst/>
          </a:prstGeom>
          <a:noFill/>
        </p:spPr>
        <p:txBody>
          <a:bodyPr wrap="square">
            <a:spAutoFit/>
          </a:bodyPr>
          <a:lstStyle/>
          <a:p>
            <a:pPr algn="l"/>
            <a:r>
              <a:rPr sz="1250" b="0" i="0">
                <a:solidFill>
                  <a:srgbClr val="222222"/>
                </a:solidFill>
                <a:latin typeface="Calibri"/>
              </a:rPr>
              <a:t>GC content validity check: RNA R² = 0.986  ·  Protein R² = 0.678</a:t>
            </a:r>
          </a:p>
        </p:txBody>
      </p:sp>
      <p:sp>
        <p:nvSpPr>
          <p:cNvPr id="9" name="TextBox 8"/>
          <p:cNvSpPr txBox="1"/>
          <p:nvPr/>
        </p:nvSpPr>
        <p:spPr>
          <a:xfrm>
            <a:off x="5806440" y="2670048"/>
            <a:ext cx="5742432" cy="320040"/>
          </a:xfrm>
          <a:prstGeom prst="rect">
            <a:avLst/>
          </a:prstGeom>
          <a:noFill/>
        </p:spPr>
        <p:txBody>
          <a:bodyPr wrap="square">
            <a:spAutoFit/>
          </a:bodyPr>
          <a:lstStyle/>
          <a:p>
            <a:pPr algn="l"/>
            <a:r>
              <a:rPr sz="1250" b="0" i="0">
                <a:solidFill>
                  <a:srgbClr val="222222"/>
                </a:solidFill>
                <a:latin typeface="Calibri"/>
              </a:rPr>
              <a:t>Synergy check (concatenation): R² = 0.100, no gain over protein alone (0.103)</a:t>
            </a:r>
          </a:p>
        </p:txBody>
      </p:sp>
      <p:sp>
        <p:nvSpPr>
          <p:cNvPr id="10" name="Rectangle 9"/>
          <p:cNvSpPr/>
          <p:nvPr/>
        </p:nvSpPr>
        <p:spPr>
          <a:xfrm>
            <a:off x="5806440" y="3127248"/>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06440" y="3291840"/>
            <a:ext cx="5742432" cy="365760"/>
          </a:xfrm>
          <a:prstGeom prst="rect">
            <a:avLst/>
          </a:prstGeom>
          <a:noFill/>
        </p:spPr>
        <p:txBody>
          <a:bodyPr wrap="square">
            <a:spAutoFit/>
          </a:bodyPr>
          <a:lstStyle/>
          <a:p>
            <a:pPr algn="l"/>
            <a:r>
              <a:rPr sz="1500" b="1" i="0">
                <a:solidFill>
                  <a:srgbClr val="2C5F2D"/>
                </a:solidFill>
                <a:latin typeface="Cambria"/>
              </a:rPr>
              <a:t>Track B: Cross-Modal Geometry</a:t>
            </a:r>
          </a:p>
        </p:txBody>
      </p:sp>
      <p:sp>
        <p:nvSpPr>
          <p:cNvPr id="12" name="TextBox 11"/>
          <p:cNvSpPr txBox="1"/>
          <p:nvPr/>
        </p:nvSpPr>
        <p:spPr>
          <a:xfrm>
            <a:off x="5806440" y="3685032"/>
            <a:ext cx="5742432" cy="320040"/>
          </a:xfrm>
          <a:prstGeom prst="rect">
            <a:avLst/>
          </a:prstGeom>
          <a:noFill/>
        </p:spPr>
        <p:txBody>
          <a:bodyPr wrap="square">
            <a:spAutoFit/>
          </a:bodyPr>
          <a:lstStyle/>
          <a:p>
            <a:pPr algn="l"/>
            <a:r>
              <a:rPr sz="1250" b="0" i="0">
                <a:solidFill>
                  <a:srgbClr val="222222"/>
                </a:solidFill>
                <a:latin typeface="Calibri"/>
              </a:rPr>
              <a:t>Geometry test: final-layer CKA: 0.128  ·  Mutual k-NN: 0.070 vs. 0.010 chance</a:t>
            </a:r>
          </a:p>
        </p:txBody>
      </p:sp>
      <p:sp>
        <p:nvSpPr>
          <p:cNvPr id="13" name="TextBox 12"/>
          <p:cNvSpPr txBox="1"/>
          <p:nvPr/>
        </p:nvSpPr>
        <p:spPr>
          <a:xfrm>
            <a:off x="5806440" y="3977639"/>
            <a:ext cx="5742432" cy="320040"/>
          </a:xfrm>
          <a:prstGeom prst="rect">
            <a:avLst/>
          </a:prstGeom>
          <a:noFill/>
        </p:spPr>
        <p:txBody>
          <a:bodyPr wrap="square">
            <a:spAutoFit/>
          </a:bodyPr>
          <a:lstStyle/>
          <a:p>
            <a:pPr algn="l"/>
            <a:r>
              <a:rPr sz="1250" b="0" i="0">
                <a:solidFill>
                  <a:srgbClr val="222222"/>
                </a:solidFill>
                <a:latin typeface="Calibri"/>
              </a:rPr>
              <a:t>Shared-subspace test (CCA): correlations up to 0.955 on held-out data</a:t>
            </a:r>
          </a:p>
        </p:txBody>
      </p:sp>
      <p:sp>
        <p:nvSpPr>
          <p:cNvPr id="14" name="TextBox 13"/>
          <p:cNvSpPr txBox="1"/>
          <p:nvPr/>
        </p:nvSpPr>
        <p:spPr>
          <a:xfrm>
            <a:off x="5806440" y="4270248"/>
            <a:ext cx="5742432" cy="320040"/>
          </a:xfrm>
          <a:prstGeom prst="rect">
            <a:avLst/>
          </a:prstGeom>
          <a:noFill/>
        </p:spPr>
        <p:txBody>
          <a:bodyPr wrap="square">
            <a:spAutoFit/>
          </a:bodyPr>
          <a:lstStyle/>
          <a:p>
            <a:pPr algn="l"/>
            <a:r>
              <a:rPr sz="1250" b="0" i="0">
                <a:solidFill>
                  <a:srgbClr val="222222"/>
                </a:solidFill>
                <a:latin typeface="Calibri"/>
              </a:rPr>
              <a:t>Cross-modal retrieval test: 36.6% top-1 recall vs. 0.3% chance</a:t>
            </a:r>
          </a:p>
        </p:txBody>
      </p:sp>
      <p:sp>
        <p:nvSpPr>
          <p:cNvPr id="15" name="Rectangle 14"/>
          <p:cNvSpPr/>
          <p:nvPr/>
        </p:nvSpPr>
        <p:spPr>
          <a:xfrm>
            <a:off x="5806440" y="4727448"/>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06440" y="4892040"/>
            <a:ext cx="5742432" cy="365760"/>
          </a:xfrm>
          <a:prstGeom prst="rect">
            <a:avLst/>
          </a:prstGeom>
          <a:noFill/>
        </p:spPr>
        <p:txBody>
          <a:bodyPr wrap="square">
            <a:spAutoFit/>
          </a:bodyPr>
          <a:lstStyle/>
          <a:p>
            <a:pPr algn="l"/>
            <a:r>
              <a:rPr sz="1500" b="1" i="0">
                <a:solidFill>
                  <a:srgbClr val="2C5F2D"/>
                </a:solidFill>
                <a:latin typeface="Cambria"/>
              </a:rPr>
              <a:t>What This Means</a:t>
            </a:r>
          </a:p>
        </p:txBody>
      </p:sp>
      <p:sp>
        <p:nvSpPr>
          <p:cNvPr id="17" name="TextBox 16"/>
          <p:cNvSpPr txBox="1"/>
          <p:nvPr/>
        </p:nvSpPr>
        <p:spPr>
          <a:xfrm>
            <a:off x="5806440" y="5285232"/>
            <a:ext cx="5742432" cy="1371600"/>
          </a:xfrm>
          <a:prstGeom prst="rect">
            <a:avLst/>
          </a:prstGeom>
          <a:noFill/>
        </p:spPr>
        <p:txBody>
          <a:bodyPr wrap="square">
            <a:spAutoFit/>
          </a:bodyPr>
          <a:lstStyle/>
          <a:p>
            <a:pPr algn="l">
              <a:lnSpc>
                <a:spcPct val="115000"/>
              </a:lnSpc>
            </a:pPr>
            <a:r>
              <a:rPr sz="1200" b="0" i="0">
                <a:solidFill>
                  <a:srgbClr val="222222"/>
                </a:solidFill>
                <a:latin typeface="Calibri"/>
              </a:rPr>
              <a:t>The two embedding spaces mostly disagree as wholes, but share one strong, specific, learnable subspace, most likely reflecting genetic-code-linked composition rather than deep functional overlap. That subspace is evidence a trained fusion mechanism is worth building, and answers the alignment-definition question: high uniqueness with one narrow pocket of real redundancy.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a:solidFill>
                  <a:srgbClr val="2C5F2D"/>
                </a:solidFill>
                <a:latin typeface="Calibri"/>
              </a:rPr>
              <a:t>STAGE 1 RESULTS, CONTINUED</a:t>
            </a:r>
          </a:p>
        </p:txBody>
      </p:sp>
      <p:sp>
        <p:nvSpPr>
          <p:cNvPr id="3" name="TextBox 2"/>
          <p:cNvSpPr txBox="1"/>
          <p:nvPr/>
        </p:nvSpPr>
        <p:spPr>
          <a:xfrm>
            <a:off x="640080" y="777240"/>
            <a:ext cx="10881360" cy="685800"/>
          </a:xfrm>
          <a:prstGeom prst="rect">
            <a:avLst/>
          </a:prstGeom>
          <a:noFill/>
        </p:spPr>
        <p:txBody>
          <a:bodyPr wrap="square">
            <a:spAutoFit/>
          </a:bodyPr>
          <a:lstStyle/>
          <a:p>
            <a:pPr algn="l"/>
            <a:r>
              <a:rPr sz="2800" b="1">
                <a:solidFill>
                  <a:srgbClr val="222222"/>
                </a:solidFill>
                <a:latin typeface="Cambria"/>
              </a:rPr>
              <a:t>Track C: Does Attention Track Real Regulatory Motifs?</a:t>
            </a:r>
          </a:p>
        </p:txBody>
      </p:sp>
      <p:pic>
        <p:nvPicPr>
          <p:cNvPr id="21" name="Picture 20" descr="trackc_new_attention_plot.png"/>
          <p:cNvPicPr>
            <a:picLocks noChangeAspect="1"/>
          </p:cNvPicPr>
          <p:nvPr/>
        </p:nvPicPr>
        <p:blipFill>
          <a:blip r:embed="rId2"/>
          <a:stretch>
            <a:fillRect/>
          </a:stretch>
        </p:blipFill>
        <p:spPr>
          <a:xfrm>
            <a:off x="640080" y="1691640"/>
            <a:ext cx="4846320" cy="1011831"/>
          </a:xfrm>
          <a:prstGeom prst="rect">
            <a:avLst/>
          </a:prstGeom>
        </p:spPr>
      </p:pic>
      <p:sp>
        <p:nvSpPr>
          <p:cNvPr id="5" name="TextBox 4"/>
          <p:cNvSpPr txBox="1"/>
          <p:nvPr/>
        </p:nvSpPr>
        <p:spPr>
          <a:xfrm>
            <a:off x="640080" y="2749191"/>
            <a:ext cx="4846320" cy="502920"/>
          </a:xfrm>
          <a:prstGeom prst="rect">
            <a:avLst/>
          </a:prstGeom>
          <a:noFill/>
        </p:spPr>
        <p:txBody>
          <a:bodyPr wrap="square">
            <a:spAutoFit/>
          </a:bodyPr>
          <a:lstStyle/>
          <a:p>
            <a:pPr algn="l"/>
            <a:r>
              <a:rPr sz="1050" b="0">
                <a:solidFill>
                  <a:srgbClr val="6B6B63"/>
                </a:solidFill>
                <a:latin typeface="Calibri"/>
              </a:rPr>
              <a:t>One example sequence: attention (line) vs. real ARE and m6A motif hits (shaded). Peaks and hits don't consistently line up.</a:t>
            </a:r>
          </a:p>
        </p:txBody>
      </p:sp>
      <p:sp>
        <p:nvSpPr>
          <p:cNvPr id="6" name="TextBox 5"/>
          <p:cNvSpPr txBox="1"/>
          <p:nvPr/>
        </p:nvSpPr>
        <p:spPr>
          <a:xfrm>
            <a:off x="640080" y="3434991"/>
            <a:ext cx="4846320" cy="365760"/>
          </a:xfrm>
          <a:prstGeom prst="rect">
            <a:avLst/>
          </a:prstGeom>
          <a:noFill/>
        </p:spPr>
        <p:txBody>
          <a:bodyPr wrap="square">
            <a:spAutoFit/>
          </a:bodyPr>
          <a:lstStyle/>
          <a:p>
            <a:pPr algn="l"/>
            <a:r>
              <a:rPr sz="1500" b="1">
                <a:solidFill>
                  <a:srgbClr val="2C5F2D"/>
                </a:solidFill>
                <a:latin typeface="Cambria"/>
              </a:rPr>
              <a:t>Reading This Example</a:t>
            </a:r>
          </a:p>
        </p:txBody>
      </p:sp>
      <p:sp>
        <p:nvSpPr>
          <p:cNvPr id="7" name="Rectangle 6"/>
          <p:cNvSpPr/>
          <p:nvPr/>
        </p:nvSpPr>
        <p:spPr>
          <a:xfrm>
            <a:off x="640080" y="4029351"/>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3937911"/>
            <a:ext cx="4590288" cy="457200"/>
          </a:xfrm>
          <a:prstGeom prst="rect">
            <a:avLst/>
          </a:prstGeom>
          <a:noFill/>
        </p:spPr>
        <p:txBody>
          <a:bodyPr wrap="square">
            <a:spAutoFit/>
          </a:bodyPr>
          <a:lstStyle/>
          <a:p>
            <a:pPr algn="l"/>
            <a:r>
              <a:rPr sz="1200" b="0">
                <a:solidFill>
                  <a:srgbClr val="222222"/>
                </a:solidFill>
                <a:latin typeface="Calibri"/>
              </a:rPr>
              <a:t>63 motif hits found (311 positions); mean attention 0.0031 at those positions vs. 0.0033 elsewhere, again the opposite of the hypothesis.</a:t>
            </a:r>
          </a:p>
        </p:txBody>
      </p:sp>
      <p:sp>
        <p:nvSpPr>
          <p:cNvPr id="9" name="Rectangle 8"/>
          <p:cNvSpPr/>
          <p:nvPr/>
        </p:nvSpPr>
        <p:spPr>
          <a:xfrm>
            <a:off x="640080" y="4623711"/>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4532271"/>
            <a:ext cx="4590288" cy="457200"/>
          </a:xfrm>
          <a:prstGeom prst="rect">
            <a:avLst/>
          </a:prstGeom>
          <a:noFill/>
        </p:spPr>
        <p:txBody>
          <a:bodyPr wrap="square">
            <a:spAutoFit/>
          </a:bodyPr>
          <a:lstStyle/>
          <a:p>
            <a:pPr algn="l"/>
            <a:r>
              <a:rPr sz="1200" b="0">
                <a:solidFill>
                  <a:srgbClr val="222222"/>
                </a:solidFill>
                <a:latin typeface="Calibri"/>
              </a:rPr>
              <a:t>These are real, literature-cited stability motifs (AU-rich elements, m6A DRACH), not generic transcription-factor sites, and neither motif class reaches significance on its own.</a:t>
            </a:r>
          </a:p>
        </p:txBody>
      </p:sp>
      <p:sp>
        <p:nvSpPr>
          <p:cNvPr id="11" name="TextBox 10"/>
          <p:cNvSpPr txBox="1"/>
          <p:nvPr/>
        </p:nvSpPr>
        <p:spPr>
          <a:xfrm>
            <a:off x="5806440" y="1691640"/>
            <a:ext cx="5742432" cy="365760"/>
          </a:xfrm>
          <a:prstGeom prst="rect">
            <a:avLst/>
          </a:prstGeom>
          <a:noFill/>
        </p:spPr>
        <p:txBody>
          <a:bodyPr wrap="square">
            <a:spAutoFit/>
          </a:bodyPr>
          <a:lstStyle/>
          <a:p>
            <a:pPr algn="l"/>
            <a:r>
              <a:rPr sz="1500" b="1">
                <a:solidFill>
                  <a:srgbClr val="2C5F2D"/>
                </a:solidFill>
                <a:latin typeface="Cambria"/>
              </a:rPr>
              <a:t>Attention-Motif Overlap</a:t>
            </a:r>
          </a:p>
        </p:txBody>
      </p:sp>
      <p:sp>
        <p:nvSpPr>
          <p:cNvPr id="12" name="TextBox 11"/>
          <p:cNvSpPr txBox="1"/>
          <p:nvPr/>
        </p:nvSpPr>
        <p:spPr>
          <a:xfrm>
            <a:off x="5806440" y="2084831"/>
            <a:ext cx="5742432" cy="320040"/>
          </a:xfrm>
          <a:prstGeom prst="rect">
            <a:avLst/>
          </a:prstGeom>
          <a:noFill/>
        </p:spPr>
        <p:txBody>
          <a:bodyPr wrap="square">
            <a:spAutoFit/>
          </a:bodyPr>
          <a:lstStyle/>
          <a:p>
            <a:pPr algn="l"/>
            <a:r>
              <a:rPr sz="1250" b="0">
                <a:solidFill>
                  <a:srgbClr val="222222"/>
                </a:solidFill>
                <a:latin typeface="Calibri"/>
              </a:rPr>
              <a:t>Motif-overlap test: across 100 sequences, 7% show higher attention at motifs (p &lt; 0.05), near the 5% chance baseline</a:t>
            </a:r>
          </a:p>
        </p:txBody>
      </p:sp>
      <p:sp>
        <p:nvSpPr>
          <p:cNvPr id="13" name="TextBox 12"/>
          <p:cNvSpPr txBox="1"/>
          <p:nvPr/>
        </p:nvSpPr>
        <p:spPr>
          <a:xfrm>
            <a:off x="5806440" y="2432303"/>
            <a:ext cx="5742432" cy="320040"/>
          </a:xfrm>
          <a:prstGeom prst="rect">
            <a:avLst/>
          </a:prstGeom>
          <a:noFill/>
        </p:spPr>
        <p:txBody>
          <a:bodyPr wrap="square">
            <a:spAutoFit/>
          </a:bodyPr>
          <a:lstStyle/>
          <a:p>
            <a:pPr algn="l"/>
            <a:r>
              <a:rPr sz="1250" b="0">
                <a:solidFill>
                  <a:srgbClr val="222222"/>
                </a:solidFill>
                <a:latin typeface="Calibri"/>
              </a:rPr>
              <a:t>Mean attention gap at motifs: -0.0009, essentially zero</a:t>
            </a:r>
          </a:p>
        </p:txBody>
      </p:sp>
      <p:sp>
        <p:nvSpPr>
          <p:cNvPr id="14" name="Rectangle 13"/>
          <p:cNvSpPr/>
          <p:nvPr/>
        </p:nvSpPr>
        <p:spPr>
          <a:xfrm>
            <a:off x="5806440" y="2935223"/>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06440" y="3090671"/>
            <a:ext cx="5742432" cy="365760"/>
          </a:xfrm>
          <a:prstGeom prst="rect">
            <a:avLst/>
          </a:prstGeom>
          <a:noFill/>
        </p:spPr>
        <p:txBody>
          <a:bodyPr wrap="square">
            <a:spAutoFit/>
          </a:bodyPr>
          <a:lstStyle/>
          <a:p>
            <a:pPr algn="l"/>
            <a:r>
              <a:rPr sz="1500" b="1">
                <a:solidFill>
                  <a:srgbClr val="2C5F2D"/>
                </a:solidFill>
                <a:latin typeface="Cambria"/>
              </a:rPr>
              <a:t>Alignment–Error Association and RSA</a:t>
            </a:r>
          </a:p>
        </p:txBody>
      </p:sp>
      <p:sp>
        <p:nvSpPr>
          <p:cNvPr id="16" name="TextBox 15"/>
          <p:cNvSpPr txBox="1"/>
          <p:nvPr/>
        </p:nvSpPr>
        <p:spPr>
          <a:xfrm>
            <a:off x="5806440" y="3483862"/>
            <a:ext cx="5742432" cy="320040"/>
          </a:xfrm>
          <a:prstGeom prst="rect">
            <a:avLst/>
          </a:prstGeom>
          <a:noFill/>
        </p:spPr>
        <p:txBody>
          <a:bodyPr wrap="square">
            <a:spAutoFit/>
          </a:bodyPr>
          <a:lstStyle/>
          <a:p>
            <a:pPr algn="l"/>
            <a:r>
              <a:rPr sz="1250" b="0">
                <a:solidFill>
                  <a:srgbClr val="222222"/>
                </a:solidFill>
                <a:latin typeface="Calibri"/>
              </a:rPr>
              <a:t>Alignment–error association: r = -0.013, p = 0.83, not significant (adapted diagnostic, not a replication of the ICML 2025 paper's own test)</a:t>
            </a:r>
          </a:p>
        </p:txBody>
      </p:sp>
      <p:sp>
        <p:nvSpPr>
          <p:cNvPr id="17" name="TextBox 16"/>
          <p:cNvSpPr txBox="1"/>
          <p:nvPr/>
        </p:nvSpPr>
        <p:spPr>
          <a:xfrm>
            <a:off x="5806440" y="3831334"/>
            <a:ext cx="5742432" cy="320040"/>
          </a:xfrm>
          <a:prstGeom prst="rect">
            <a:avLst/>
          </a:prstGeom>
          <a:noFill/>
        </p:spPr>
        <p:txBody>
          <a:bodyPr wrap="square">
            <a:spAutoFit/>
          </a:bodyPr>
          <a:lstStyle/>
          <a:p>
            <a:pPr algn="l"/>
            <a:r>
              <a:rPr sz="1250" b="0">
                <a:solidFill>
                  <a:srgbClr val="222222"/>
                </a:solidFill>
                <a:latin typeface="Calibri"/>
              </a:rPr>
              <a:t>Internal-structure test (RSA): r = 0.234, p &lt; 0.001, a fourth confirmation of Track B's shared subspace</a:t>
            </a:r>
          </a:p>
        </p:txBody>
      </p:sp>
      <p:sp>
        <p:nvSpPr>
          <p:cNvPr id="18" name="Rectangle 17"/>
          <p:cNvSpPr/>
          <p:nvPr/>
        </p:nvSpPr>
        <p:spPr>
          <a:xfrm>
            <a:off x="5806440" y="4334254"/>
            <a:ext cx="5742432" cy="1828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06440" y="4517134"/>
            <a:ext cx="5742432" cy="365760"/>
          </a:xfrm>
          <a:prstGeom prst="rect">
            <a:avLst/>
          </a:prstGeom>
          <a:noFill/>
        </p:spPr>
        <p:txBody>
          <a:bodyPr wrap="square">
            <a:spAutoFit/>
          </a:bodyPr>
          <a:lstStyle/>
          <a:p>
            <a:pPr algn="l"/>
            <a:r>
              <a:rPr sz="1500" b="1">
                <a:solidFill>
                  <a:srgbClr val="2C5F2D"/>
                </a:solidFill>
                <a:latin typeface="Cambria"/>
              </a:rPr>
              <a:t>What This Means</a:t>
            </a:r>
          </a:p>
        </p:txBody>
      </p:sp>
      <p:sp>
        <p:nvSpPr>
          <p:cNvPr id="20" name="TextBox 19"/>
          <p:cNvSpPr txBox="1"/>
          <p:nvPr/>
        </p:nvSpPr>
        <p:spPr>
          <a:xfrm>
            <a:off x="5806440" y="4910325"/>
            <a:ext cx="5742432" cy="1737360"/>
          </a:xfrm>
          <a:prstGeom prst="rect">
            <a:avLst/>
          </a:prstGeom>
          <a:noFill/>
        </p:spPr>
        <p:txBody>
          <a:bodyPr wrap="square">
            <a:spAutoFit/>
          </a:bodyPr>
          <a:lstStyle/>
          <a:p>
            <a:pPr algn="l"/>
            <a:r>
              <a:rPr sz="1200" b="0">
                <a:solidFill>
                  <a:srgbClr val="222222"/>
                </a:solidFill>
                <a:latin typeface="Calibri"/>
              </a:rPr>
              <a:t>The motif-overlap test has been re-run against real, literature-cited AU-rich-element and m6A motifs, and the result is still null: attention doesn't concentrate at these positions any more than the JASPAR test suggested. Unlike the first pass, the ground truth is now correct, so this is a genuine finding about the encoder, not a methodology artifact. The alignment–error association agrees with Track B: local alignment doesn't predict performance, so an explicit alignment loss likely won't help Stage 2's fusion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2C5F2D"/>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640080" y="777240"/>
            <a:ext cx="10881360" cy="685800"/>
          </a:xfrm>
          <a:prstGeom prst="rect">
            <a:avLst/>
          </a:prstGeom>
          <a:noFill/>
          <a:ln/>
        </p:spPr>
        <p:txBody>
          <a:bodyPr wrap="square" lIns="0" tIns="0" rIns="0" bIns="0" rtlCol="0" anchor="ctr"/>
          <a:lstStyle/>
          <a:p>
            <a:pPr marL="0" indent="0">
              <a:buNone/>
            </a:pPr>
            <a:r>
              <a:rPr lang="en-US" sz="2800" b="1" dirty="0">
                <a:solidFill>
                  <a:srgbClr val="222222"/>
                </a:solidFill>
                <a:latin typeface="Cambria" pitchFamily="34" charset="0"/>
                <a:ea typeface="Cambria" pitchFamily="34" charset="-122"/>
                <a:cs typeface="Cambria" pitchFamily="34" charset="-120"/>
              </a:rPr>
              <a:t>Next Steps and Open Questions for Wednesday</a:t>
            </a:r>
            <a:endParaRPr lang="en-US" sz="2800" dirty="0"/>
          </a:p>
        </p:txBody>
      </p:sp>
      <p:sp>
        <p:nvSpPr>
          <p:cNvPr id="4" name="TextBox 3"/>
          <p:cNvSpPr txBox="1"/>
          <p:nvPr/>
        </p:nvSpPr>
        <p:spPr>
          <a:xfrm>
            <a:off x="640080" y="1691640"/>
            <a:ext cx="4983480" cy="365760"/>
          </a:xfrm>
          <a:prstGeom prst="rect">
            <a:avLst/>
          </a:prstGeom>
          <a:noFill/>
        </p:spPr>
        <p:txBody>
          <a:bodyPr wrap="square">
            <a:spAutoFit/>
          </a:bodyPr>
          <a:lstStyle/>
          <a:p>
            <a:pPr algn="l"/>
            <a:r>
              <a:rPr sz="1600" b="1" i="0">
                <a:solidFill>
                  <a:srgbClr val="2C5F2D"/>
                </a:solidFill>
                <a:latin typeface="Cambria"/>
              </a:rPr>
              <a:t>Next Steps</a:t>
            </a:r>
          </a:p>
        </p:txBody>
      </p:sp>
      <p:sp>
        <p:nvSpPr>
          <p:cNvPr id="9" name="Rectangle 8"/>
          <p:cNvSpPr/>
          <p:nvPr/>
        </p:nvSpPr>
        <p:spPr>
          <a:xfrm>
            <a:off x="640080" y="2285999"/>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194560"/>
            <a:ext cx="4727448" cy="685800"/>
          </a:xfrm>
          <a:prstGeom prst="rect">
            <a:avLst/>
          </a:prstGeom>
          <a:noFill/>
        </p:spPr>
        <p:txBody>
          <a:bodyPr wrap="square">
            <a:spAutoFit/>
          </a:bodyPr>
          <a:lstStyle/>
          <a:p>
            <a:pPr algn="l">
              <a:lnSpc>
                <a:spcPct val="110000"/>
              </a:lnSpc>
            </a:pPr>
            <a:r>
              <a:rPr sz="1200" b="0" i="0">
                <a:solidFill>
                  <a:srgbClr val="222222"/>
                </a:solidFill>
                <a:latin typeface="Calibri"/>
              </a:rPr>
              <a:t>Propose the alignment target: Stage 1 places this pair in the “low alignment, high synergy” branch of the decision tree — skip an explicit alignment loss, pending your read on it.</a:t>
            </a:r>
          </a:p>
        </p:txBody>
      </p:sp>
      <p:sp>
        <p:nvSpPr>
          <p:cNvPr id="11" name="Rectangle 10"/>
          <p:cNvSpPr/>
          <p:nvPr/>
        </p:nvSpPr>
        <p:spPr>
          <a:xfrm>
            <a:off x="640080" y="3035808"/>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944368"/>
            <a:ext cx="4727448" cy="685800"/>
          </a:xfrm>
          <a:prstGeom prst="rect">
            <a:avLst/>
          </a:prstGeom>
          <a:noFill/>
        </p:spPr>
        <p:txBody>
          <a:bodyPr wrap="square">
            <a:spAutoFit/>
          </a:bodyPr>
          <a:lstStyle/>
          <a:p>
            <a:pPr algn="l">
              <a:lnSpc>
                <a:spcPct val="110000"/>
              </a:lnSpc>
            </a:pPr>
            <a:r>
              <a:rPr sz="1200" b="0" i="0">
                <a:solidFill>
                  <a:srgbClr val="222222"/>
                </a:solidFill>
                <a:latin typeface="Calibri"/>
              </a:rPr>
              <a:t>Confirm the fusion candidates: cross-attention and Coupled-Mamba as previously discussed; Cross-Mamba and mixture-of-experts fusion stand by as fallbacks.</a:t>
            </a:r>
          </a:p>
        </p:txBody>
      </p:sp>
      <p:sp>
        <p:nvSpPr>
          <p:cNvPr id="13" name="Rectangle 12"/>
          <p:cNvSpPr/>
          <p:nvPr/>
        </p:nvSpPr>
        <p:spPr>
          <a:xfrm>
            <a:off x="5760720" y="1691640"/>
            <a:ext cx="18288" cy="4480560"/>
          </a:xfrm>
          <a:prstGeom prst="rect">
            <a:avLst/>
          </a:prstGeom>
          <a:solidFill>
            <a:srgbClr val="D9E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80760" y="1691640"/>
            <a:ext cx="5166360" cy="365760"/>
          </a:xfrm>
          <a:prstGeom prst="rect">
            <a:avLst/>
          </a:prstGeom>
          <a:noFill/>
        </p:spPr>
        <p:txBody>
          <a:bodyPr wrap="square">
            <a:spAutoFit/>
          </a:bodyPr>
          <a:lstStyle/>
          <a:p>
            <a:pPr algn="l"/>
            <a:r>
              <a:rPr sz="1600" b="1" i="0">
                <a:solidFill>
                  <a:srgbClr val="2C5F2D"/>
                </a:solidFill>
                <a:latin typeface="Cambria"/>
              </a:rPr>
              <a:t>Open Questions for Wednesday</a:t>
            </a:r>
          </a:p>
        </p:txBody>
      </p:sp>
      <p:sp>
        <p:nvSpPr>
          <p:cNvPr id="15" name="TextBox 14"/>
          <p:cNvSpPr txBox="1"/>
          <p:nvPr/>
        </p:nvSpPr>
        <p:spPr>
          <a:xfrm>
            <a:off x="6080760" y="2194560"/>
            <a:ext cx="457200" cy="365760"/>
          </a:xfrm>
          <a:prstGeom prst="rect">
            <a:avLst/>
          </a:prstGeom>
          <a:noFill/>
        </p:spPr>
        <p:txBody>
          <a:bodyPr wrap="square">
            <a:spAutoFit/>
          </a:bodyPr>
          <a:lstStyle/>
          <a:p>
            <a:pPr algn="l"/>
            <a:r>
              <a:rPr sz="1500" b="1" i="0">
                <a:solidFill>
                  <a:srgbClr val="2C5F2D"/>
                </a:solidFill>
                <a:latin typeface="Cambria"/>
              </a:rPr>
              <a:t>01</a:t>
            </a:r>
          </a:p>
        </p:txBody>
      </p:sp>
      <p:sp>
        <p:nvSpPr>
          <p:cNvPr id="16" name="TextBox 15"/>
          <p:cNvSpPr txBox="1"/>
          <p:nvPr/>
        </p:nvSpPr>
        <p:spPr>
          <a:xfrm>
            <a:off x="6537960" y="2194560"/>
            <a:ext cx="4709160" cy="685800"/>
          </a:xfrm>
          <a:prstGeom prst="rect">
            <a:avLst/>
          </a:prstGeom>
          <a:noFill/>
        </p:spPr>
        <p:txBody>
          <a:bodyPr wrap="square">
            <a:spAutoFit/>
          </a:bodyPr>
          <a:lstStyle/>
          <a:p>
            <a:pPr algn="l">
              <a:lnSpc>
                <a:spcPct val="110000"/>
              </a:lnSpc>
            </a:pPr>
            <a:r>
              <a:rPr sz="1200" b="0" i="0">
                <a:solidFill>
                  <a:srgbClr val="222222"/>
                </a:solidFill>
                <a:latin typeface="Calibri"/>
              </a:rPr>
              <a:t>Does mRNA stability become the confirmed Stage 4 benchmark, given DNA-optional scoping?</a:t>
            </a:r>
          </a:p>
        </p:txBody>
      </p:sp>
      <p:sp>
        <p:nvSpPr>
          <p:cNvPr id="17" name="TextBox 16"/>
          <p:cNvSpPr txBox="1"/>
          <p:nvPr/>
        </p:nvSpPr>
        <p:spPr>
          <a:xfrm>
            <a:off x="6080760" y="2944368"/>
            <a:ext cx="457200" cy="365760"/>
          </a:xfrm>
          <a:prstGeom prst="rect">
            <a:avLst/>
          </a:prstGeom>
          <a:noFill/>
        </p:spPr>
        <p:txBody>
          <a:bodyPr wrap="square">
            <a:spAutoFit/>
          </a:bodyPr>
          <a:lstStyle/>
          <a:p>
            <a:pPr algn="l"/>
            <a:r>
              <a:rPr sz="1500" b="1" i="0">
                <a:solidFill>
                  <a:srgbClr val="2C5F2D"/>
                </a:solidFill>
                <a:latin typeface="Cambria"/>
              </a:rPr>
              <a:t>02</a:t>
            </a:r>
          </a:p>
        </p:txBody>
      </p:sp>
      <p:sp>
        <p:nvSpPr>
          <p:cNvPr id="18" name="TextBox 17"/>
          <p:cNvSpPr txBox="1"/>
          <p:nvPr/>
        </p:nvSpPr>
        <p:spPr>
          <a:xfrm>
            <a:off x="6537960" y="2944368"/>
            <a:ext cx="4709160" cy="685800"/>
          </a:xfrm>
          <a:prstGeom prst="rect">
            <a:avLst/>
          </a:prstGeom>
          <a:noFill/>
        </p:spPr>
        <p:txBody>
          <a:bodyPr wrap="square">
            <a:spAutoFit/>
          </a:bodyPr>
          <a:lstStyle/>
          <a:p>
            <a:pPr algn="l">
              <a:lnSpc>
                <a:spcPct val="110000"/>
              </a:lnSpc>
            </a:pPr>
            <a:r>
              <a:rPr sz="1200" b="0" i="0">
                <a:solidFill>
                  <a:srgbClr val="222222"/>
                </a:solidFill>
                <a:latin typeface="Calibri"/>
              </a:rPr>
              <a:t>Do the mRNA_Stability sequences include 3' UTR context, where AU-rich elements and m6A sites concentrate, or are they CDS-only?</a:t>
            </a:r>
          </a:p>
        </p:txBody>
      </p:sp>
      <p:sp>
        <p:nvSpPr>
          <p:cNvPr id="19" name="TextBox 18"/>
          <p:cNvSpPr txBox="1"/>
          <p:nvPr/>
        </p:nvSpPr>
        <p:spPr>
          <a:xfrm>
            <a:off x="6080760" y="3694176"/>
            <a:ext cx="457200" cy="365760"/>
          </a:xfrm>
          <a:prstGeom prst="rect">
            <a:avLst/>
          </a:prstGeom>
          <a:noFill/>
        </p:spPr>
        <p:txBody>
          <a:bodyPr wrap="square">
            <a:spAutoFit/>
          </a:bodyPr>
          <a:lstStyle/>
          <a:p>
            <a:pPr algn="l"/>
            <a:r>
              <a:rPr sz="1500" b="1" i="0">
                <a:solidFill>
                  <a:srgbClr val="2C5F2D"/>
                </a:solidFill>
                <a:latin typeface="Cambria"/>
              </a:rPr>
              <a:t>03</a:t>
            </a:r>
          </a:p>
        </p:txBody>
      </p:sp>
      <p:sp>
        <p:nvSpPr>
          <p:cNvPr id="20" name="TextBox 19"/>
          <p:cNvSpPr txBox="1"/>
          <p:nvPr/>
        </p:nvSpPr>
        <p:spPr>
          <a:xfrm>
            <a:off x="6537960" y="3694176"/>
            <a:ext cx="4709160" cy="685800"/>
          </a:xfrm>
          <a:prstGeom prst="rect">
            <a:avLst/>
          </a:prstGeom>
          <a:noFill/>
        </p:spPr>
        <p:txBody>
          <a:bodyPr wrap="square">
            <a:spAutoFit/>
          </a:bodyPr>
          <a:lstStyle/>
          <a:p>
            <a:pPr algn="l">
              <a:lnSpc>
                <a:spcPct val="110000"/>
              </a:lnSpc>
            </a:pPr>
            <a:r>
              <a:rPr sz="1200" b="0" i="0">
                <a:solidFill>
                  <a:srgbClr val="222222"/>
                </a:solidFill>
                <a:latin typeface="Calibri"/>
              </a:rPr>
              <a:t>Should Stage 2 use asymmetric, per-pair alignment decisions across modality pairs?</a:t>
            </a:r>
          </a:p>
        </p:txBody>
      </p:sp>
      <p:sp>
        <p:nvSpPr>
          <p:cNvPr id="21" name="TextBox 20"/>
          <p:cNvSpPr txBox="1"/>
          <p:nvPr/>
        </p:nvSpPr>
        <p:spPr>
          <a:xfrm>
            <a:off x="6080760" y="4443984"/>
            <a:ext cx="457200" cy="365760"/>
          </a:xfrm>
          <a:prstGeom prst="rect">
            <a:avLst/>
          </a:prstGeom>
          <a:noFill/>
        </p:spPr>
        <p:txBody>
          <a:bodyPr wrap="square">
            <a:spAutoFit/>
          </a:bodyPr>
          <a:lstStyle/>
          <a:p>
            <a:pPr algn="l"/>
            <a:r>
              <a:rPr sz="1500" b="1" i="0">
                <a:solidFill>
                  <a:srgbClr val="2C5F2D"/>
                </a:solidFill>
                <a:latin typeface="Cambria"/>
              </a:rPr>
              <a:t>04</a:t>
            </a:r>
          </a:p>
        </p:txBody>
      </p:sp>
      <p:sp>
        <p:nvSpPr>
          <p:cNvPr id="22" name="TextBox 21"/>
          <p:cNvSpPr txBox="1"/>
          <p:nvPr/>
        </p:nvSpPr>
        <p:spPr>
          <a:xfrm>
            <a:off x="6537960" y="4443984"/>
            <a:ext cx="4709160" cy="685800"/>
          </a:xfrm>
          <a:prstGeom prst="rect">
            <a:avLst/>
          </a:prstGeom>
          <a:noFill/>
        </p:spPr>
        <p:txBody>
          <a:bodyPr wrap="square">
            <a:spAutoFit/>
          </a:bodyPr>
          <a:lstStyle/>
          <a:p>
            <a:pPr algn="l">
              <a:lnSpc>
                <a:spcPct val="110000"/>
              </a:lnSpc>
            </a:pPr>
            <a:r>
              <a:rPr sz="1200" b="0" i="0" dirty="0">
                <a:solidFill>
                  <a:srgbClr val="222222"/>
                </a:solidFill>
                <a:latin typeface="Calibri"/>
              </a:rPr>
              <a:t>Is the shared subspace compositional (GC-linked), or something more specific worth checking?</a:t>
            </a:r>
          </a:p>
        </p:txBody>
      </p:sp>
      <p:sp>
        <p:nvSpPr>
          <p:cNvPr id="23" name="Rectangle 22"/>
          <p:cNvSpPr/>
          <p:nvPr/>
        </p:nvSpPr>
        <p:spPr>
          <a:xfrm>
            <a:off x="640080" y="5715000"/>
            <a:ext cx="54864" cy="9144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69280"/>
            <a:ext cx="10332720" cy="566758"/>
          </a:xfrm>
          <a:prstGeom prst="rect">
            <a:avLst/>
          </a:prstGeom>
          <a:noFill/>
        </p:spPr>
        <p:txBody>
          <a:bodyPr wrap="square">
            <a:spAutoFit/>
          </a:bodyPr>
          <a:lstStyle/>
          <a:p>
            <a:pPr algn="l">
              <a:lnSpc>
                <a:spcPct val="115000"/>
              </a:lnSpc>
            </a:pPr>
            <a:r>
              <a:rPr sz="1400" b="0" i="1" dirty="0">
                <a:solidFill>
                  <a:srgbClr val="222222"/>
                </a:solidFill>
                <a:latin typeface="Cambria"/>
              </a:rPr>
              <a:t>Once these are confirmed: Stage 2 formalizes the alignment decision, Stage 3 builds and benchmarks both fusion architectures at scale, and Stage 4 tests whether fusion beats the best single-modality model.</a:t>
            </a:r>
          </a:p>
        </p:txBody>
      </p:sp>
      <p:sp>
        <p:nvSpPr>
          <p:cNvPr id="11" name="Rectangle 10"/>
          <p:cNvSpPr/>
          <p:nvPr/>
        </p:nvSpPr>
        <p:spPr>
          <a:xfrm>
            <a:off x="640080" y="3785616"/>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3694176"/>
            <a:ext cx="4727448" cy="685800"/>
          </a:xfrm>
          <a:prstGeom prst="rect">
            <a:avLst/>
          </a:prstGeom>
          <a:noFill/>
        </p:spPr>
        <p:txBody>
          <a:bodyPr wrap="square">
            <a:spAutoFit/>
          </a:bodyPr>
          <a:lstStyle/>
          <a:p>
            <a:pPr algn="l">
              <a:lnSpc>
                <a:spcPct val="110000"/>
              </a:lnSpc>
            </a:pPr>
            <a:r>
              <a:rPr sz="1200" b="0" i="0">
                <a:solidFill>
                  <a:srgbClr val="222222"/>
                </a:solidFill>
                <a:latin typeface="Calibri"/>
              </a:rPr>
              <a:t>Done: secondary-structure (Nussinov) probe reran under the corrected min-loop implementation — no longer pending.</a:t>
            </a:r>
          </a:p>
        </p:txBody>
      </p:sp>
      <p:sp>
        <p:nvSpPr>
          <p:cNvPr id="11" name="Rectangle 10"/>
          <p:cNvSpPr/>
          <p:nvPr/>
        </p:nvSpPr>
        <p:spPr>
          <a:xfrm>
            <a:off x="640080" y="4535424"/>
            <a:ext cx="128016" cy="27432"/>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617720"/>
            <a:ext cx="4727448" cy="685800"/>
          </a:xfrm>
          <a:prstGeom prst="rect">
            <a:avLst/>
          </a:prstGeom>
          <a:noFill/>
        </p:spPr>
        <p:txBody>
          <a:bodyPr wrap="square">
            <a:spAutoFit/>
          </a:bodyPr>
          <a:lstStyle/>
          <a:p>
            <a:pPr algn="l">
              <a:lnSpc>
                <a:spcPct val="110000"/>
              </a:lnSpc>
            </a:pPr>
            <a:r>
              <a:rPr sz="1200" b="0" i="0">
                <a:solidFill>
                  <a:srgbClr val="222222"/>
                </a:solidFill>
                <a:latin typeface="Calibri"/>
              </a:rPr>
              <a:t>Done: both evaluation leaks (scaler fit before CV; duplicate-sequence groups crossing folds) are fixed — Track A/B R² above are the corrected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986</Words>
  <Application>Microsoft Macintosh PowerPoint</Application>
  <PresentationFormat>Widescreen</PresentationFormat>
  <Paragraphs>74</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Julian Mckinley</cp:lastModifiedBy>
  <cp:revision>2</cp:revision>
  <dcterms:created xsi:type="dcterms:W3CDTF">2026-09-18T15:18:08Z</dcterms:created>
  <dcterms:modified xsi:type="dcterms:W3CDTF">2026-09-21T17:51:23Z</dcterms:modified>
</cp:coreProperties>
</file>