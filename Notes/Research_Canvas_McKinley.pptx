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590B4-A25E-455E-BE97-60EC0321328F}" v="2" dt="2022-08-30T17:25:44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2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in Haddad" userId="3be5d49dbdd9859c" providerId="LiveId" clId="{E60590B4-A25E-455E-BE97-60EC0321328F}"/>
    <pc:docChg chg="custSel modSld">
      <pc:chgData name="Hanin Haddad" userId="3be5d49dbdd9859c" providerId="LiveId" clId="{E60590B4-A25E-455E-BE97-60EC0321328F}" dt="2022-08-30T17:27:40.123" v="15" actId="478"/>
      <pc:docMkLst>
        <pc:docMk/>
      </pc:docMkLst>
      <pc:sldChg chg="addSp delSp modSp mod">
        <pc:chgData name="Hanin Haddad" userId="3be5d49dbdd9859c" providerId="LiveId" clId="{E60590B4-A25E-455E-BE97-60EC0321328F}" dt="2022-08-30T17:27:40.123" v="15" actId="478"/>
        <pc:sldMkLst>
          <pc:docMk/>
          <pc:sldMk cId="592673985" sldId="450"/>
        </pc:sldMkLst>
        <pc:spChg chg="add del ord">
          <ac:chgData name="Hanin Haddad" userId="3be5d49dbdd9859c" providerId="LiveId" clId="{E60590B4-A25E-455E-BE97-60EC0321328F}" dt="2022-08-30T17:27:40.123" v="15" actId="478"/>
          <ac:spMkLst>
            <pc:docMk/>
            <pc:sldMk cId="592673985" sldId="450"/>
            <ac:spMk id="4" creationId="{C791ED56-01BB-873F-554C-B481A724A865}"/>
          </ac:spMkLst>
        </pc:spChg>
        <pc:spChg chg="add del ord">
          <ac:chgData name="Hanin Haddad" userId="3be5d49dbdd9859c" providerId="LiveId" clId="{E60590B4-A25E-455E-BE97-60EC0321328F}" dt="2022-08-30T17:27:39.722" v="14" actId="478"/>
          <ac:spMkLst>
            <pc:docMk/>
            <pc:sldMk cId="592673985" sldId="450"/>
            <ac:spMk id="5" creationId="{6637B79C-BC2A-5E29-E947-2E88D6254882}"/>
          </ac:spMkLst>
        </pc:spChg>
        <pc:graphicFrameChg chg="mod ord modGraphic">
          <ac:chgData name="Hanin Haddad" userId="3be5d49dbdd9859c" providerId="LiveId" clId="{E60590B4-A25E-455E-BE97-60EC0321328F}" dt="2022-08-30T17:27:38.359" v="13" actId="167"/>
          <ac:graphicFrameMkLst>
            <pc:docMk/>
            <pc:sldMk cId="592673985" sldId="450"/>
            <ac:graphicFrameMk id="3" creationId="{67918C14-7977-4DD3-91D2-5B7BFC62B84A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544A2-0522-424A-B2E2-3985A782548D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3B67D-E7AE-46C4-B274-151312F31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3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72990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B1E8-E950-777D-E42E-6F26AF04B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179EA-F4BB-DF50-1A36-814785FA3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E2911-6BBE-071F-6B9B-E598D83A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5CD71-1D5B-4A16-51A6-04F7AE0A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B30E6-5586-E36D-D372-8D882E8E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5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53FAD-6C6F-D30F-0F82-FD120A654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DE71-C511-5162-5A83-B5AB83E80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FB2E7-004C-CDE9-5AF9-AB0F3BB3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0B719-25FB-908F-4C67-C014BF8E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3A2B5-4142-13AF-EBFA-4B0AE744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7283-6B38-C7A5-51F4-92543360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0A726-3B81-0B2C-6D36-D71495F54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5DA7E-6B60-3E09-311F-F29CC5E6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9F4E8-949B-69D4-8522-8B9575BE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3135-A8B4-5F4B-34AC-F95EFD74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9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0313-8C95-156A-82CC-53E9F607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C11B-5BF6-1851-7C7F-621A67047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57003-C7E5-F79F-C112-7D50781F6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5EAD2-5CB0-F889-98D9-BDDB98F3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CB0B5-DA34-5D72-3AD8-CD48ED04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0E1E-564B-17BD-FD4B-1E57C0A4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6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4264-0A45-0B15-BB82-CE693DEF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CB3BB-B5BA-1D4E-1F34-414E79225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2B126-6775-E3FB-95F1-1669DA819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4021-07B0-2AAC-C295-187824214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80AEA-1B15-B276-2269-C0126131E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317DD9-E80F-ADFA-6863-90429A8F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6FA72-E5FB-FF41-F347-3FCB25D6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95DC7-1109-3B16-5125-C780D49F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4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F11B-0B68-A9F7-55B3-75EEAD6F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686970-D915-1F3D-49FC-C9C50B13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1DB21-0F53-D662-FB7C-DD4B101A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95F53-55C4-D52C-A988-B928A3C9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8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38273-693A-8F83-B9D3-D8ACEE1F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3FD30-02D0-3D20-0BF4-E018CB2B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A1EDA-366B-85F2-531D-290262F20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0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4729-E748-CBFF-F458-8D5D0422F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727A2-212B-C5C2-CEC1-F4354FB0D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A3206-FB5E-A4D9-9D56-81A04DC0A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868DE-ED70-7E9D-EA16-3C781063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2F0BB-67F9-F2FC-4207-CE48A5B2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44251-0019-92E4-7FF7-4BB7FEDC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3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9F55-5C5A-B40C-3E11-B7A35E52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0B6BB-018C-BA63-F95D-6E02A6920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C1E0A-CA15-D689-689F-5216BECFF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735A6-3EC6-EA5E-846C-E8900350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4E9FE-AD13-26EF-5E2E-D7D66224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7081F-8940-C661-E04A-F7EA1AA6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3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8D3C-C043-658A-46EE-BFEF55B5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00483-CD2C-E887-32E6-E90BE549C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02355-3C0D-39A3-800A-1B21F92C5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A2A9-1ECF-DCBC-4B5F-FE2B2B52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C487-C88C-738B-4BBD-71AF63E4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6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3EEB3-01FF-4ED5-BBAD-EB8EE9FC1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6D1942-B64B-3C43-8D3F-01FD3D257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E6809-71F7-7A01-E5D7-2BA083C1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39588-2898-9E31-6BB9-1AB272CD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04869-4D2A-8FBA-678F-85A34F89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7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2991F6-0DDA-D3AB-868C-50039F894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C33D1-37FD-391D-E5CC-755923B6B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35B66-9806-E07C-0BE2-AF6AB1197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0EA3B-F7EB-4BDE-9C31-A1A8ED8EF13C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631A9-17C3-88E9-8097-D02CB247F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37C3B-DA5D-401A-FB4B-DE760204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B5D3F-E013-4628-A6EB-1353171E1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3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09;p2">
            <a:extLst>
              <a:ext uri="{FF2B5EF4-FFF2-40B4-BE49-F238E27FC236}">
                <a16:creationId xmlns:a16="http://schemas.microsoft.com/office/drawing/2014/main" id="{67918C14-7977-4DD3-91D2-5B7BFC62B8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2735200"/>
              </p:ext>
            </p:extLst>
          </p:nvPr>
        </p:nvGraphicFramePr>
        <p:xfrm>
          <a:off x="316522" y="201336"/>
          <a:ext cx="11558956" cy="652013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66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4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3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2778">
                <a:tc rowSpan="2">
                  <a:txBody>
                    <a:bodyPr wrap="square"/>
                    <a:lstStyle/>
                    <a:p>
                      <a:pPr marL="0" marR="0" lvl="0" indent="0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Key Literature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50">
                          <a:solidFill>
                            <a:srgbClr val="000000"/>
                          </a:solidFill>
                        </a:rPr>
                        <a:t>Garau-Luis et al. (2024), NeurIPS:</a:t>
                      </a:r>
                      <a:r>
                        <a:rPr sz="750" b="0">
                          <a:solidFill>
                            <a:srgbClr val="000000"/>
                          </a:solidFill>
                        </a:rPr>
                        <a:t> IsoFormer: cross-attention fusion of DNA, RNA, and protein encoders.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50">
                          <a:solidFill>
                            <a:srgbClr val="000000"/>
                          </a:solidFill>
                        </a:rPr>
                        <a:t>Mollaysa et al. (2025), ICML workshop:</a:t>
                      </a:r>
                      <a:r>
                        <a:rPr sz="750" b="0">
                          <a:solidFill>
                            <a:srgbClr val="000000"/>
                          </a:solidFill>
                        </a:rPr>
                        <a:t> BioLangFusion: codon-level fusion of frozen models; main baseline.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50">
                          <a:solidFill>
                            <a:srgbClr val="000000"/>
                          </a:solidFill>
                        </a:rPr>
                        <a:t>Li et al. (2024), NeurIPS:</a:t>
                      </a:r>
                      <a:r>
                        <a:rPr sz="750" b="0">
                          <a:solidFill>
                            <a:srgbClr val="000000"/>
                          </a:solidFill>
                        </a:rPr>
                        <a:t> Coupled Mamba: state-space fusion with no alignment loss.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50">
                          <a:solidFill>
                            <a:srgbClr val="000000"/>
                          </a:solidFill>
                        </a:rPr>
                        <a:t>Ota (2026), arXiv:</a:t>
                      </a:r>
                      <a:r>
                        <a:rPr sz="750" b="0">
                          <a:solidFill>
                            <a:srgbClr val="000000"/>
                          </a:solidFill>
                        </a:rPr>
                        <a:t> Central Dogma Transformer: directional, interpretable cross-attention.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50">
                          <a:solidFill>
                            <a:srgbClr val="000000"/>
                          </a:solidFill>
                        </a:rPr>
                        <a:t>He et al. (2025), Nature Mach. Intell.:</a:t>
                      </a:r>
                      <a:r>
                        <a:rPr sz="750" b="0">
                          <a:solidFill>
                            <a:srgbClr val="000000"/>
                          </a:solidFill>
                        </a:rPr>
                        <a:t> LucaOne: one unified model trained from scratch; costly alternative to fusion.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50">
                          <a:solidFill>
                            <a:srgbClr val="000000"/>
                          </a:solidFill>
                        </a:rPr>
                        <a:t>Tjandrasuwita et al. (2025), ICML:</a:t>
                      </a:r>
                      <a:r>
                        <a:rPr sz="750" b="0">
                          <a:solidFill>
                            <a:srgbClr val="000000"/>
                          </a:solidFill>
                        </a:rPr>
                        <a:t> alignment predicts performance only when modalities share information; basis for our diagnostics.</a:t>
                      </a:r>
                    </a:p>
                  </a:txBody>
                  <a:tcPr marL="50800" marR="50800" marT="38100" marB="29258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marR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Relevance / Significance</a:t>
                      </a:r>
                      <a:endParaRPr sz="1000" dirty="0">
                        <a:latin typeface="+mn-lt"/>
                      </a:endParaRP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DNA, RNA, and protein foundation models are each trained in isolation, even though the central dogma links the three molecules.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Training one unified model (LucaOne) takes massive compute; fusing existing frozen models is far cheaper and reusable by academic labs.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mRNA stability and expression drive the effectiveness of mRNA vaccines and therapeutics, so better prediction supports sequence design.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Prior fusion work combines modalities without first asking whether they are aligned, or whether alignment even helps.</a:t>
                      </a:r>
                    </a:p>
                  </a:txBody>
                  <a:tcPr marL="50800" marR="50800" marT="38100" marB="29258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marL="0" marR="0" lvl="0" indent="0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9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Research Question / Hypothesis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00">
                          <a:solidFill>
                            <a:srgbClr val="000000"/>
                          </a:solidFill>
                        </a:rPr>
                        <a:t>RQ1: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Do frozen RNA (Nucleotide Transformer) and protein (ESM-2) embeddings carry complementary information about mRNA stability?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00">
                          <a:solidFill>
                            <a:srgbClr val="000000"/>
                          </a:solidFill>
                        </a:rPr>
                        <a:t>RQ2: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Does learned fusion beat the best single modality, and does an explicit alignment objective help?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00">
                          <a:solidFill>
                            <a:srgbClr val="000000"/>
                          </a:solidFill>
                        </a:rPr>
                        <a:t>H1: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Learned fusion (cross-attention or Coupled Mamba) will beat single-modality models; naive concatenation will not.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00">
                          <a:solidFill>
                            <a:srgbClr val="000000"/>
                          </a:solidFill>
                        </a:rPr>
                        <a:t>H2: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RNA and protein carry substantial unique information, so alignment will not predict performance and an explicit alignment loss will not help.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00">
                          <a:solidFill>
                            <a:srgbClr val="000000"/>
                          </a:solidFill>
                        </a:rPr>
                        <a:t>H3:</a:t>
                      </a:r>
                      <a:r>
                        <a:rPr sz="800" b="0">
                          <a:solidFill>
                            <a:srgbClr val="000000"/>
                          </a:solidFill>
                        </a:rPr>
                        <a:t> Coupled Mamba will match cross-attention accuracy at lower memory cost.</a:t>
                      </a:r>
                    </a:p>
                  </a:txBody>
                  <a:tcPr marL="50800" marR="50800" marT="38100" marB="29258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marR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Results (Stage 1 pilot)</a:t>
                      </a:r>
                      <a:endParaRPr lang="en-AU" sz="1000" b="0" dirty="0">
                        <a:latin typeface="+mn-lt"/>
                        <a:ea typeface="Comic Sans MS"/>
                        <a:cs typeface="Arial" panose="020B0604020202020204" pitchFamily="34" charset="0"/>
                        <a:sym typeface="Comic Sans MS"/>
                      </a:endParaRP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Linear probes (R-squared, 5-fold): RNA 0.015, protein 0.103, concatenation 0.100 (no gain from naive fusion).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Low global alignment: CKA 0.128; mutual k-NN 0.070 (chance 0.010).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Strong shared subspace: top CCA correlation 0.955; cross-modal retrieval Recall@1 0.366 (chance 0.003).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Alignment–error association near zero (r = -0.013, p = 0.83), an adaptation of the alignment-performance slope: supports H2.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 passed: 1,000 synonymous mRFP variants map to one protein embedding.</a:t>
                      </a:r>
                    </a:p>
                  </a:txBody>
                  <a:tcPr marL="50800" marR="50800" marT="38100" marB="29258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 wrap="square"/>
                    <a:lstStyle/>
                    <a:p>
                      <a:pPr marL="0" marR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Audience</a:t>
                      </a:r>
                      <a:endParaRPr sz="800" b="0" dirty="0">
                        <a:latin typeface="+mn-lt"/>
                        <a:ea typeface="Comic Sans MS"/>
                        <a:cs typeface="Arial" panose="020B0604020202020204" pitchFamily="34" charset="0"/>
                        <a:sym typeface="Comic Sans MS"/>
                      </a:endParaRP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750" b="0">
                          <a:solidFill>
                            <a:srgbClr val="000000"/>
                          </a:solidFill>
                        </a:rPr>
                        <a:t>Computational biology and bioinformatics ML researchers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750" b="0">
                          <a:solidFill>
                            <a:srgbClr val="000000"/>
                          </a:solidFill>
                        </a:rPr>
                        <a:t>mRNA vaccine and therapeutic design teams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750" b="0">
                          <a:solidFill>
                            <a:srgbClr val="000000"/>
                          </a:solidFill>
                        </a:rPr>
                        <a:t>Multimodal ML researchers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750" b="0">
                          <a:solidFill>
                            <a:srgbClr val="000000"/>
                          </a:solidFill>
                        </a:rPr>
                        <a:t>Garibay lab (UCF)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750" b="0">
                          <a:solidFill>
                            <a:srgbClr val="000000"/>
                          </a:solidFill>
                        </a:rPr>
                        <a:t>MSDA capstone committee</a:t>
                      </a:r>
                    </a:p>
                  </a:txBody>
                  <a:tcPr marL="50800" marR="50800" marT="38100" marB="29258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3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wrap="square"/>
                    <a:lstStyle/>
                    <a:p>
                      <a:pPr marL="0" marR="0" lvl="0" indent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Originality / Novelty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Measure first, then fuse: we characterize RNA and protein representation alignment (CKA, CCA, retrieval, RSA) before designing any fusion module.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First adaptation of the alignment-performance slope diagnostic (Tjandrasuwita et al., 2025) to biological sequence modalities.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Head-to-head benchmark of Coupled Mamba vs. cross-attention for RNA and protein fusion.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Synonymous-codon control dataset (mRFP) to validate the pipeline.</a:t>
                      </a:r>
                    </a:p>
                  </a:txBody>
                  <a:tcPr marL="50800" marR="50800" marT="38100" marB="29258"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wrap="square"/>
                    <a:lstStyle/>
                    <a:p>
                      <a:pPr marL="0" marR="0" lvl="0" indent="0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Contributions</a:t>
                      </a:r>
                      <a:endParaRPr lang="en-AU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Comic Sans MS"/>
                      </a:endParaRP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50" b="0">
                          <a:solidFill>
                            <a:srgbClr val="000000"/>
                          </a:solidFill>
                        </a:rPr>
                        <a:t>Open, reproducible representation-analysis pipeline (GitHub).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50" b="0">
                          <a:solidFill>
                            <a:srgbClr val="000000"/>
                          </a:solidFill>
                        </a:rPr>
                        <a:t>Evidence on how aligned RNA and protein foundation models are.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50" b="0">
                          <a:solidFill>
                            <a:srgbClr val="000000"/>
                          </a:solidFill>
                        </a:rPr>
                        <a:t>Benchmark of fusion architectures for mRNA property prediction.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sz="850" b="0">
                          <a:solidFill>
                            <a:srgbClr val="000000"/>
                          </a:solidFill>
                        </a:rPr>
                        <a:t>Guidance on when alignment objectives are worth adding.</a:t>
                      </a:r>
                    </a:p>
                  </a:txBody>
                  <a:tcPr marL="50800" marR="50800" marT="38100" marB="29258"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4611920"/>
                  </a:ext>
                </a:extLst>
              </a:tr>
              <a:tr h="1333874">
                <a:tc gridSpan="3">
                  <a:txBody>
                    <a:bodyPr wrap="square"/>
                    <a:lstStyle/>
                    <a:p>
                      <a:pPr marL="0" marR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Key Collaborators</a:t>
                      </a:r>
                      <a:endParaRPr lang="en-US" sz="1000" b="0" dirty="0">
                        <a:latin typeface="+mn-lt"/>
                        <a:ea typeface="+mn-ea"/>
                        <a:cs typeface="+mn-cs"/>
                        <a:sym typeface="Comic Sans MS"/>
                      </a:endParaRP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50">
                          <a:solidFill>
                            <a:srgbClr val="000000"/>
                          </a:solidFill>
                        </a:rPr>
                        <a:t>Julian McKinley:</a:t>
                      </a:r>
                      <a:r>
                        <a:rPr sz="850" b="0">
                          <a:solidFill>
                            <a:srgbClr val="000000"/>
                          </a:solidFill>
                        </a:rPr>
                        <a:t> MSDA (AI Track) student; pipeline design, experiments, analysis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50">
                          <a:solidFill>
                            <a:srgbClr val="000000"/>
                          </a:solidFill>
                        </a:rPr>
                        <a:t>Chase:</a:t>
                      </a:r>
                      <a:r>
                        <a:rPr sz="850" b="0">
                          <a:solidFill>
                            <a:srgbClr val="000000"/>
                          </a:solidFill>
                        </a:rPr>
                        <a:t> teammate and co-developer on the shared GitHub repository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50">
                          <a:solidFill>
                            <a:srgbClr val="000000"/>
                          </a:solidFill>
                        </a:rPr>
                        <a:t>Mina Basirat, PhD:</a:t>
                      </a:r>
                      <a:r>
                        <a:rPr sz="850" b="0">
                          <a:solidFill>
                            <a:srgbClr val="000000"/>
                          </a:solidFill>
                        </a:rPr>
                        <a:t> postdoctoral researcher, UCF; project advisor (multimodal foundation models, theoretical ML)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50">
                          <a:solidFill>
                            <a:srgbClr val="000000"/>
                          </a:solidFill>
                        </a:rPr>
                        <a:t>Prof. Ivan Garibay:</a:t>
                      </a:r>
                      <a:r>
                        <a:rPr sz="850" b="0">
                          <a:solidFill>
                            <a:srgbClr val="000000"/>
                          </a:solidFill>
                        </a:rPr>
                        <a:t> lab director, UCF; related lab work on codon-resolved genomic language models (Equi-mRNA, OIL)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850">
                          <a:solidFill>
                            <a:srgbClr val="000000"/>
                          </a:solidFill>
                        </a:rPr>
                        <a:t>Data:</a:t>
                      </a:r>
                      <a:r>
                        <a:rPr sz="850" b="0">
                          <a:solidFill>
                            <a:srgbClr val="000000"/>
                          </a:solidFill>
                        </a:rPr>
                        <a:t> CodonBERT benchmark datasets (Sanofi, public)</a:t>
                      </a:r>
                    </a:p>
                  </a:txBody>
                  <a:tcPr marL="50800" marR="50800" marT="38100" marB="29258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marL="0" marR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900" b="1" dirty="0">
                          <a:solidFill>
                            <a:srgbClr val="000000"/>
                          </a:solidFill>
                          <a:latin typeface="+mn-lt"/>
                        </a:rPr>
                        <a:t>Methods</a:t>
                      </a:r>
                      <a:endParaRPr lang="en-AU" sz="1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Comic Sans MS"/>
                      </a:endParaRP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00">
                          <a:solidFill>
                            <a:srgbClr val="000000"/>
                          </a:solidFill>
                        </a:rPr>
                        <a:t>Data:</a:t>
                      </a:r>
                      <a:r>
                        <a:rPr sz="700" b="0">
                          <a:solidFill>
                            <a:srgbClr val="000000"/>
                          </a:solidFill>
                        </a:rPr>
                        <a:t> mRNA Stability (~41K sequences; 1,000-sequence pilot) and mRFP Expression (synonymous variants of one gene).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00">
                          <a:solidFill>
                            <a:srgbClr val="000000"/>
                          </a:solidFill>
                        </a:rPr>
                        <a:t>Encoders (frozen):</a:t>
                      </a:r>
                      <a:r>
                        <a:rPr sz="700" b="0">
                          <a:solidFill>
                            <a:srgbClr val="000000"/>
                          </a:solidFill>
                        </a:rPr>
                        <a:t> Nucleotide Transformer 500M for RNA; ESM-2 for translated protein.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00">
                          <a:solidFill>
                            <a:srgbClr val="000000"/>
                          </a:solidFill>
                        </a:rPr>
                        <a:t>Stage 1:</a:t>
                      </a:r>
                      <a:r>
                        <a:rPr sz="700" b="0">
                          <a:solidFill>
                            <a:srgbClr val="000000"/>
                          </a:solidFill>
                        </a:rPr>
                        <a:t> linear probes, layer-wise CKA, mutual k-NN, CCA, retrieval, RSA, UMAP, attention vs. stability motifs.</a:t>
                      </a:r>
                    </a:p>
                    <a:p>
                      <a:pPr marL="91440" indent="-91440">
                        <a:spcBef>
                          <a:spcPts val="150"/>
                        </a:spcBef>
                        <a:buChar char="•"/>
                      </a:pPr>
                      <a:r>
                        <a:rPr b="1" sz="700">
                          <a:solidFill>
                            <a:srgbClr val="000000"/>
                          </a:solidFill>
                        </a:rPr>
                        <a:t>Stages 2 to 4:</a:t>
                      </a:r>
                      <a:r>
                        <a:rPr sz="700" b="0">
                          <a:solidFill>
                            <a:srgbClr val="000000"/>
                          </a:solidFill>
                        </a:rPr>
                        <a:t> codon-grid alignment with no alignment loss by default; cross-attention vs. Coupled Mamba fusion against a concatenation + MLP baseline, with and without an alignment loss; 5-fold CV benchmark (R-squared, Spearman) against the best single modality.</a:t>
                      </a:r>
                    </a:p>
                  </a:txBody>
                  <a:tcPr marL="50800" marR="50800" marT="38100" marB="29258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133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sz="700" b="1">
                          <a:solidFill>
                            <a:srgbClr val="000000"/>
                          </a:solidFill>
                        </a:rPr>
                        <a:t>Julian McKinley  |  Aligning and Fusing Frozen RNA and Protein Foundation Models for mRNA Property Prediction  |  MSDA Capstone, UCF  |  Advisor: Mina Basirat, PhD</a:t>
                      </a:r>
                      <a:endParaRPr sz="800" dirty="0"/>
                    </a:p>
                  </a:txBody>
                  <a:tcPr marL="52660" marR="52660" marT="12700" marB="12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048FD9-E2BB-4712-BF77-19BEB5B2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500"/>
              </a:spcAft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pPr>
                <a:spcAft>
                  <a:spcPts val="5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673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48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Hanin Haddad</dc:creator>
  <cp:lastModifiedBy>Hanin Haddad</cp:lastModifiedBy>
  <cp:revision>1</cp:revision>
  <dcterms:created xsi:type="dcterms:W3CDTF">2022-08-30T17:10:57Z</dcterms:created>
  <dcterms:modified xsi:type="dcterms:W3CDTF">2022-08-30T17:27:49Z</dcterms:modified>
</cp:coreProperties>
</file>