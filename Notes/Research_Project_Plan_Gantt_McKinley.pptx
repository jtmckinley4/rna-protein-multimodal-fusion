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11521440" cy="36576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Research Project Plan (Gantt): Aligning and Fusing Frozen RNA and Protein Foundation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566928"/>
            <a:ext cx="11521440" cy="2560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Julian McKinley  |  MSDA Capstone, UCF  |  Advisor: Mina Basirat, PhD  |  Weekly through the Fall 2026 capstone, monthly afterward toward publication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407408" y="932688"/>
            <a:ext cx="5589270" cy="182880"/>
          </a:xfrm>
          <a:prstGeom prst="rect">
            <a:avLst/>
          </a:prstGeom>
          <a:solidFill>
            <a:srgbClr val="D9D9D9"/>
          </a:solidFill>
          <a:ln w="6350">
            <a:solidFill>
              <a:srgbClr val="D0D0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07408" y="932688"/>
            <a:ext cx="5589270" cy="18288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000000"/>
                </a:solidFill>
                <a:latin typeface="Arial"/>
              </a:rPr>
              <a:t>Fall 2026 capstone (weekly, week starting)</a:t>
            </a:r>
          </a:p>
        </p:txBody>
      </p:sp>
      <p:sp>
        <p:nvSpPr>
          <p:cNvPr id="6" name="Rectangle 5"/>
          <p:cNvSpPr/>
          <p:nvPr/>
        </p:nvSpPr>
        <p:spPr>
          <a:xfrm>
            <a:off x="9996678" y="932688"/>
            <a:ext cx="1863089" cy="182880"/>
          </a:xfrm>
          <a:prstGeom prst="rect">
            <a:avLst/>
          </a:prstGeom>
          <a:solidFill>
            <a:srgbClr val="D9D9D9"/>
          </a:solidFill>
          <a:ln w="6350">
            <a:solidFill>
              <a:srgbClr val="D0D0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96678" y="932688"/>
            <a:ext cx="1863089" cy="18288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000000"/>
                </a:solidFill>
                <a:latin typeface="Arial"/>
              </a:rPr>
              <a:t>2027 (monthly)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932688"/>
            <a:ext cx="3520440" cy="420624"/>
          </a:xfrm>
          <a:prstGeom prst="rect">
            <a:avLst/>
          </a:prstGeom>
          <a:solidFill>
            <a:srgbClr val="D9D9D9"/>
          </a:solidFill>
          <a:ln w="6350">
            <a:solidFill>
              <a:srgbClr val="D0D0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932688"/>
            <a:ext cx="3520440" cy="42062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Task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58768" y="932688"/>
            <a:ext cx="530352" cy="420624"/>
          </a:xfrm>
          <a:prstGeom prst="rect">
            <a:avLst/>
          </a:prstGeom>
          <a:solidFill>
            <a:srgbClr val="D9D9D9"/>
          </a:solidFill>
          <a:ln w="6350">
            <a:solidFill>
              <a:srgbClr val="D0D0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58768" y="932688"/>
            <a:ext cx="530352" cy="42062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7408" y="1115568"/>
            <a:ext cx="372618" cy="237744"/>
          </a:xfrm>
          <a:prstGeom prst="rect">
            <a:avLst/>
          </a:prstGeom>
          <a:solidFill>
            <a:srgbClr val="D9D9D9"/>
          </a:solidFill>
          <a:ln w="6350">
            <a:solidFill>
              <a:srgbClr val="D0D0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8" y="1115568"/>
            <a:ext cx="372618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8/31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80026" y="1115568"/>
            <a:ext cx="372618" cy="237744"/>
          </a:xfrm>
          <a:prstGeom prst="rect">
            <a:avLst/>
          </a:prstGeom>
          <a:solidFill>
            <a:srgbClr val="D9D9D9"/>
          </a:solidFill>
          <a:ln w="6350">
            <a:solidFill>
              <a:srgbClr val="D0D0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80026" y="1115568"/>
            <a:ext cx="372618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9/7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52644" y="1115568"/>
            <a:ext cx="372618" cy="237744"/>
          </a:xfrm>
          <a:prstGeom prst="rect">
            <a:avLst/>
          </a:prstGeom>
          <a:solidFill>
            <a:srgbClr val="D9D9D9"/>
          </a:solidFill>
          <a:ln w="6350">
            <a:solidFill>
              <a:srgbClr val="D0D0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52644" y="1115568"/>
            <a:ext cx="372618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9/14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25262" y="1115568"/>
            <a:ext cx="372618" cy="237744"/>
          </a:xfrm>
          <a:prstGeom prst="rect">
            <a:avLst/>
          </a:prstGeom>
          <a:solidFill>
            <a:srgbClr val="D9D9D9"/>
          </a:solidFill>
          <a:ln w="6350">
            <a:solidFill>
              <a:srgbClr val="D0D0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25262" y="1115568"/>
            <a:ext cx="372618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9/21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97880" y="1115568"/>
            <a:ext cx="372618" cy="237744"/>
          </a:xfrm>
          <a:prstGeom prst="rect">
            <a:avLst/>
          </a:prstGeom>
          <a:solidFill>
            <a:srgbClr val="D9D9D9"/>
          </a:solidFill>
          <a:ln w="6350">
            <a:solidFill>
              <a:srgbClr val="D0D0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97880" y="1115568"/>
            <a:ext cx="372618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9/28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70498" y="1115568"/>
            <a:ext cx="372618" cy="237744"/>
          </a:xfrm>
          <a:prstGeom prst="rect">
            <a:avLst/>
          </a:prstGeom>
          <a:solidFill>
            <a:srgbClr val="D9D9D9"/>
          </a:solidFill>
          <a:ln w="6350">
            <a:solidFill>
              <a:srgbClr val="D0D0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0498" y="1115568"/>
            <a:ext cx="372618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10/5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43116" y="1115568"/>
            <a:ext cx="372618" cy="237744"/>
          </a:xfrm>
          <a:prstGeom prst="rect">
            <a:avLst/>
          </a:prstGeom>
          <a:solidFill>
            <a:srgbClr val="D9D9D9"/>
          </a:solidFill>
          <a:ln w="6350">
            <a:solidFill>
              <a:srgbClr val="D0D0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43116" y="1115568"/>
            <a:ext cx="372618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10/12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15734" y="1115568"/>
            <a:ext cx="372618" cy="237744"/>
          </a:xfrm>
          <a:prstGeom prst="rect">
            <a:avLst/>
          </a:prstGeom>
          <a:solidFill>
            <a:srgbClr val="D9D9D9"/>
          </a:solidFill>
          <a:ln w="6350">
            <a:solidFill>
              <a:srgbClr val="D0D0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15734" y="1115568"/>
            <a:ext cx="372618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10/19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88352" y="1115568"/>
            <a:ext cx="372618" cy="237744"/>
          </a:xfrm>
          <a:prstGeom prst="rect">
            <a:avLst/>
          </a:prstGeom>
          <a:solidFill>
            <a:srgbClr val="D9D9D9"/>
          </a:solidFill>
          <a:ln w="6350">
            <a:solidFill>
              <a:srgbClr val="D0D0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88352" y="1115568"/>
            <a:ext cx="372618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10/26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60970" y="1115568"/>
            <a:ext cx="372618" cy="237744"/>
          </a:xfrm>
          <a:prstGeom prst="rect">
            <a:avLst/>
          </a:prstGeom>
          <a:solidFill>
            <a:srgbClr val="D9D9D9"/>
          </a:solidFill>
          <a:ln w="6350">
            <a:solidFill>
              <a:srgbClr val="D0D0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60970" y="1115568"/>
            <a:ext cx="372618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11/2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3588" y="1115568"/>
            <a:ext cx="372618" cy="237744"/>
          </a:xfrm>
          <a:prstGeom prst="rect">
            <a:avLst/>
          </a:prstGeom>
          <a:solidFill>
            <a:srgbClr val="D9D9D9"/>
          </a:solidFill>
          <a:ln w="6350">
            <a:solidFill>
              <a:srgbClr val="D0D0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3588" y="1115568"/>
            <a:ext cx="372618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11/9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06206" y="1115568"/>
            <a:ext cx="372618" cy="237744"/>
          </a:xfrm>
          <a:prstGeom prst="rect">
            <a:avLst/>
          </a:prstGeom>
          <a:solidFill>
            <a:srgbClr val="D9D9D9"/>
          </a:solidFill>
          <a:ln w="6350">
            <a:solidFill>
              <a:srgbClr val="D0D0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06206" y="1115568"/>
            <a:ext cx="372618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11/16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78824" y="1115568"/>
            <a:ext cx="372618" cy="237744"/>
          </a:xfrm>
          <a:prstGeom prst="rect">
            <a:avLst/>
          </a:prstGeom>
          <a:solidFill>
            <a:srgbClr val="D9D9D9"/>
          </a:solidFill>
          <a:ln w="6350">
            <a:solidFill>
              <a:srgbClr val="D0D0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78824" y="1115568"/>
            <a:ext cx="372618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11/23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51442" y="1115568"/>
            <a:ext cx="372618" cy="237744"/>
          </a:xfrm>
          <a:prstGeom prst="rect">
            <a:avLst/>
          </a:prstGeom>
          <a:solidFill>
            <a:srgbClr val="D9D9D9"/>
          </a:solidFill>
          <a:ln w="6350">
            <a:solidFill>
              <a:srgbClr val="D0D0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51442" y="1115568"/>
            <a:ext cx="372618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11/30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24060" y="1115568"/>
            <a:ext cx="372618" cy="237744"/>
          </a:xfrm>
          <a:prstGeom prst="rect">
            <a:avLst/>
          </a:prstGeom>
          <a:solidFill>
            <a:srgbClr val="D9D9D9"/>
          </a:solidFill>
          <a:ln w="6350">
            <a:solidFill>
              <a:srgbClr val="D0D0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24060" y="1115568"/>
            <a:ext cx="372618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12/7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96678" y="1115568"/>
            <a:ext cx="372618" cy="237744"/>
          </a:xfrm>
          <a:prstGeom prst="rect">
            <a:avLst/>
          </a:prstGeom>
          <a:solidFill>
            <a:srgbClr val="D9D9D9"/>
          </a:solidFill>
          <a:ln w="6350">
            <a:solidFill>
              <a:srgbClr val="D0D0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96678" y="1115568"/>
            <a:ext cx="372618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Jan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369296" y="1115568"/>
            <a:ext cx="372618" cy="237744"/>
          </a:xfrm>
          <a:prstGeom prst="rect">
            <a:avLst/>
          </a:prstGeom>
          <a:solidFill>
            <a:srgbClr val="D9D9D9"/>
          </a:solidFill>
          <a:ln w="6350">
            <a:solidFill>
              <a:srgbClr val="D0D0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69296" y="1115568"/>
            <a:ext cx="372618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Feb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741913" y="1115568"/>
            <a:ext cx="372618" cy="237744"/>
          </a:xfrm>
          <a:prstGeom prst="rect">
            <a:avLst/>
          </a:prstGeom>
          <a:solidFill>
            <a:srgbClr val="D9D9D9"/>
          </a:solidFill>
          <a:ln w="6350">
            <a:solidFill>
              <a:srgbClr val="D0D0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741913" y="1115568"/>
            <a:ext cx="372618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Mar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114532" y="1115568"/>
            <a:ext cx="372618" cy="237744"/>
          </a:xfrm>
          <a:prstGeom prst="rect">
            <a:avLst/>
          </a:prstGeom>
          <a:solidFill>
            <a:srgbClr val="D9D9D9"/>
          </a:solidFill>
          <a:ln w="6350">
            <a:solidFill>
              <a:srgbClr val="D0D0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114532" y="1115568"/>
            <a:ext cx="372618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Apr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487150" y="1115568"/>
            <a:ext cx="372618" cy="237744"/>
          </a:xfrm>
          <a:prstGeom prst="rect">
            <a:avLst/>
          </a:prstGeom>
          <a:solidFill>
            <a:srgbClr val="D9D9D9"/>
          </a:solidFill>
          <a:ln w="6350">
            <a:solidFill>
              <a:srgbClr val="D0D0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487150" y="1115568"/>
            <a:ext cx="372618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May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1353312"/>
            <a:ext cx="11539728" cy="159715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20040" y="2151887"/>
            <a:ext cx="11539728" cy="159715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0040" y="3269894"/>
            <a:ext cx="11539728" cy="159715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20040" y="4547616"/>
            <a:ext cx="11539728" cy="159715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20040" y="5346192"/>
            <a:ext cx="11539728" cy="159715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4407408" y="1353312"/>
            <a:ext cx="0" cy="4791456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780026" y="1353312"/>
            <a:ext cx="0" cy="4791456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152644" y="1353312"/>
            <a:ext cx="0" cy="4791456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5525262" y="1353312"/>
            <a:ext cx="0" cy="4791456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5897880" y="1353312"/>
            <a:ext cx="0" cy="4791456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6270498" y="1353312"/>
            <a:ext cx="0" cy="4791456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6643116" y="1353312"/>
            <a:ext cx="0" cy="4791456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7015734" y="1353312"/>
            <a:ext cx="0" cy="4791456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7388352" y="1353312"/>
            <a:ext cx="0" cy="4791456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7760970" y="1353312"/>
            <a:ext cx="0" cy="4791456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8133588" y="1353312"/>
            <a:ext cx="0" cy="4791456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8506206" y="1353312"/>
            <a:ext cx="0" cy="4791456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8878824" y="1353312"/>
            <a:ext cx="0" cy="4791456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251442" y="1353312"/>
            <a:ext cx="0" cy="4791456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9624060" y="1353312"/>
            <a:ext cx="0" cy="4791456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9996678" y="1353312"/>
            <a:ext cx="0" cy="4791456"/>
          </a:xfrm>
          <a:prstGeom prst="line">
            <a:avLst/>
          </a:prstGeom>
          <a:ln w="190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0369296" y="1353312"/>
            <a:ext cx="0" cy="4791456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0741913" y="1353312"/>
            <a:ext cx="0" cy="4791456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1114532" y="1353312"/>
            <a:ext cx="0" cy="4791456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1487150" y="1353312"/>
            <a:ext cx="0" cy="4791456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1859767" y="1353312"/>
            <a:ext cx="0" cy="4791456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320040" y="1353312"/>
            <a:ext cx="11539727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320040" y="1513027"/>
            <a:ext cx="11539727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320040" y="1672742"/>
            <a:ext cx="11539727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320040" y="1832457"/>
            <a:ext cx="11539727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320040" y="1992172"/>
            <a:ext cx="11539727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320040" y="2151887"/>
            <a:ext cx="11539727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320040" y="2311603"/>
            <a:ext cx="11539727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320040" y="2471318"/>
            <a:ext cx="11539727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320040" y="2631033"/>
            <a:ext cx="11539727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320040" y="2790748"/>
            <a:ext cx="11539727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320040" y="2950463"/>
            <a:ext cx="11539727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320040" y="3110179"/>
            <a:ext cx="11539727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320040" y="3269894"/>
            <a:ext cx="11539727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320040" y="3429609"/>
            <a:ext cx="11539727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320040" y="3589324"/>
            <a:ext cx="11539727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320040" y="3749039"/>
            <a:ext cx="11539727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320040" y="3908755"/>
            <a:ext cx="11539727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320040" y="4068470"/>
            <a:ext cx="11539727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320040" y="4228185"/>
            <a:ext cx="11539727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320040" y="4387900"/>
            <a:ext cx="11539727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320040" y="4547616"/>
            <a:ext cx="11539727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320040" y="4707331"/>
            <a:ext cx="11539727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320040" y="4867046"/>
            <a:ext cx="11539727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320040" y="5026761"/>
            <a:ext cx="11539727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320040" y="5186476"/>
            <a:ext cx="11539727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320040" y="5346192"/>
            <a:ext cx="11539727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320040" y="5505907"/>
            <a:ext cx="11539727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320040" y="5665622"/>
            <a:ext cx="11539727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320040" y="5825337"/>
            <a:ext cx="11539727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320040" y="5985052"/>
            <a:ext cx="11539727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320040" y="6144768"/>
            <a:ext cx="11539727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5578493" y="1335024"/>
            <a:ext cx="0" cy="4809744"/>
          </a:xfrm>
          <a:prstGeom prst="line">
            <a:avLst/>
          </a:prstGeom>
          <a:ln w="19050">
            <a:solidFill>
              <a:srgbClr val="E0A52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320040" y="1353312"/>
            <a:ext cx="4050791" cy="159715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Arial"/>
              </a:rPr>
              <a:t>Setup and Literature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20040" y="1513027"/>
            <a:ext cx="3520440" cy="159715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1. Lab onboarding and advisor meetings (Garibay lab, Mina)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858768" y="1513027"/>
            <a:ext cx="530352" cy="159715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000000"/>
                </a:solidFill>
                <a:latin typeface="Arial"/>
              </a:rPr>
              <a:t>Done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407408" y="1543373"/>
            <a:ext cx="745235" cy="99023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20040" y="1672742"/>
            <a:ext cx="3520440" cy="159715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2. Literature review: 6 core papers and written reviews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858768" y="1672742"/>
            <a:ext cx="530352" cy="159715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000000"/>
                </a:solidFill>
                <a:latin typeface="Arial"/>
              </a:rPr>
              <a:t>Done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4780026" y="1703088"/>
            <a:ext cx="745236" cy="99023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20040" y="1832457"/>
            <a:ext cx="3520440" cy="159715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3. Annotated bibliography and research canvas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858768" y="1832457"/>
            <a:ext cx="530352" cy="159715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000000"/>
                </a:solidFill>
                <a:latin typeface="Arial"/>
              </a:rPr>
              <a:t>In progress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525262" y="1862803"/>
            <a:ext cx="372617" cy="99023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20040" y="1992172"/>
            <a:ext cx="3520440" cy="159715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4. Capstone planning docs (Statement of Work, Requirements, Project Plan)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858768" y="1992172"/>
            <a:ext cx="530352" cy="159715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000000"/>
                </a:solidFill>
                <a:latin typeface="Arial"/>
              </a:rPr>
              <a:t>In progress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525262" y="2022518"/>
            <a:ext cx="745235" cy="99023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20040" y="2151887"/>
            <a:ext cx="4050791" cy="159715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Arial"/>
              </a:rPr>
              <a:t>Stage 1: Representation Analysis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20040" y="2311603"/>
            <a:ext cx="3520440" cy="159715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5. Data prep: CodonBERT datasets, frame and start-codon checks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858768" y="2311603"/>
            <a:ext cx="530352" cy="159715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000000"/>
                </a:solidFill>
                <a:latin typeface="Arial"/>
              </a:rPr>
              <a:t>Done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152644" y="2341949"/>
            <a:ext cx="372618" cy="99023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20040" y="2471318"/>
            <a:ext cx="3520440" cy="159715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6. Pilot analysis (1,000 seqs): probes, CKA, CCA, retrieval, mRFP control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858768" y="2471318"/>
            <a:ext cx="530352" cy="159715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000000"/>
                </a:solidFill>
                <a:latin typeface="Arial"/>
              </a:rPr>
              <a:t>Done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152644" y="2501664"/>
            <a:ext cx="745236" cy="99023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320040" y="2631033"/>
            <a:ext cx="3520440" cy="159715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700" b="1" i="0">
                <a:solidFill>
                  <a:srgbClr val="000000"/>
                </a:solidFill>
                <a:latin typeface="Arial"/>
              </a:rPr>
              <a:t>7. Progress meeting with Mina (Stage 1 results)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858768" y="2631033"/>
            <a:ext cx="530352" cy="159715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000000"/>
                </a:solidFill>
                <a:latin typeface="Arial"/>
              </a:rPr>
              <a:t>Planned</a:t>
            </a:r>
          </a:p>
        </p:txBody>
      </p:sp>
      <p:sp>
        <p:nvSpPr>
          <p:cNvPr id="132" name="Diamond 131"/>
          <p:cNvSpPr/>
          <p:nvPr/>
        </p:nvSpPr>
        <p:spPr>
          <a:xfrm>
            <a:off x="5594453" y="2647005"/>
            <a:ext cx="127772" cy="127772"/>
          </a:xfrm>
          <a:prstGeom prst="diamond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5740513" y="2631033"/>
            <a:ext cx="640080" cy="159715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600" b="1" i="0">
                <a:solidFill>
                  <a:srgbClr val="000000"/>
                </a:solidFill>
                <a:latin typeface="Arial"/>
              </a:rPr>
              <a:t>Sep 23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20040" y="2790748"/>
            <a:ext cx="3520440" cy="159715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8. Scale Stage 1 to full ~41K mRNA Stability set and mRFP Expression labels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858768" y="2790748"/>
            <a:ext cx="530352" cy="159715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000000"/>
                </a:solidFill>
                <a:latin typeface="Arial"/>
              </a:rPr>
              <a:t>Planned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5897880" y="2821094"/>
            <a:ext cx="745236" cy="99023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20040" y="2950463"/>
            <a:ext cx="3520440" cy="159715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9. Interpretability follow-ups (species subgroup check, other attention layers and heads)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858768" y="2950463"/>
            <a:ext cx="530352" cy="159715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000000"/>
                </a:solidFill>
                <a:latin typeface="Arial"/>
              </a:rPr>
              <a:t>Planned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270498" y="2980809"/>
            <a:ext cx="745236" cy="99023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320040" y="3110179"/>
            <a:ext cx="3520440" cy="159715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700" b="1" i="0">
                <a:solidFill>
                  <a:srgbClr val="000000"/>
                </a:solidFill>
                <a:latin typeface="Arial"/>
              </a:rPr>
              <a:t>10. Milestone: Stage 1 findings reviewed with Mina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858768" y="3110179"/>
            <a:ext cx="530352" cy="159715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000000"/>
                </a:solidFill>
                <a:latin typeface="Arial"/>
              </a:rPr>
              <a:t>Planned</a:t>
            </a:r>
          </a:p>
        </p:txBody>
      </p:sp>
      <p:sp>
        <p:nvSpPr>
          <p:cNvPr id="142" name="Diamond 141"/>
          <p:cNvSpPr/>
          <p:nvPr/>
        </p:nvSpPr>
        <p:spPr>
          <a:xfrm>
            <a:off x="6818770" y="3126150"/>
            <a:ext cx="127772" cy="127772"/>
          </a:xfrm>
          <a:prstGeom prst="diamond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6964830" y="3110179"/>
            <a:ext cx="640080" cy="159715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600" b="1" i="0">
                <a:solidFill>
                  <a:srgbClr val="000000"/>
                </a:solidFill>
                <a:latin typeface="Arial"/>
              </a:rPr>
              <a:t>Oct 16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20040" y="3269894"/>
            <a:ext cx="4050791" cy="159715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Arial"/>
              </a:rPr>
              <a:t>Stages 2 to 4: Alignment, Fusion, and Benchmarking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20040" y="3429609"/>
            <a:ext cx="3520440" cy="159715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11. Stage 2: codon-grid alignment (resample RNA onto the protein codon grid)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858768" y="3429609"/>
            <a:ext cx="530352" cy="159715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000000"/>
                </a:solidFill>
                <a:latin typeface="Arial"/>
              </a:rPr>
              <a:t>Planned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643116" y="3459955"/>
            <a:ext cx="745235" cy="99023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320040" y="3589324"/>
            <a:ext cx="3520440" cy="159715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12. Stage 3: baselines (single-modality, concatenation + MLP)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858768" y="3589324"/>
            <a:ext cx="530352" cy="159715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000000"/>
                </a:solidFill>
                <a:latin typeface="Arial"/>
              </a:rPr>
              <a:t>Planned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7015734" y="3619670"/>
            <a:ext cx="745236" cy="99023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320040" y="3749039"/>
            <a:ext cx="3520440" cy="159715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13. Stage 3: cross-attention fusion model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858768" y="3749039"/>
            <a:ext cx="530352" cy="159715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000000"/>
                </a:solidFill>
                <a:latin typeface="Arial"/>
              </a:rPr>
              <a:t>Planned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7388352" y="3779385"/>
            <a:ext cx="745235" cy="99023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320040" y="3908755"/>
            <a:ext cx="3520440" cy="159715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14. Stage 3: Coupled Mamba fusion model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3858768" y="3908755"/>
            <a:ext cx="530352" cy="159715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000000"/>
                </a:solidFill>
                <a:latin typeface="Arial"/>
              </a:rPr>
              <a:t>Planned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7760970" y="3939101"/>
            <a:ext cx="745235" cy="99023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320040" y="4068470"/>
            <a:ext cx="3520440" cy="159715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15. Stage 3: alignment-loss ablation (with vs. without explicit alignment)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3858768" y="4068470"/>
            <a:ext cx="530352" cy="159715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000000"/>
                </a:solidFill>
                <a:latin typeface="Arial"/>
              </a:rPr>
              <a:t>Planned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8133588" y="4098816"/>
            <a:ext cx="745236" cy="99023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320040" y="4228185"/>
            <a:ext cx="3520440" cy="159715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16. Stage 4: benchmark and statistics (5-fold CV, R-squared, Spearman)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858768" y="4228185"/>
            <a:ext cx="530352" cy="159715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000000"/>
                </a:solidFill>
                <a:latin typeface="Arial"/>
              </a:rPr>
              <a:t>Planned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8506206" y="4258531"/>
            <a:ext cx="745235" cy="99023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320040" y="4387900"/>
            <a:ext cx="3520440" cy="159715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17. Agentic AI component (capstone requirement)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3858768" y="4387900"/>
            <a:ext cx="530352" cy="159715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000000"/>
                </a:solidFill>
                <a:latin typeface="Arial"/>
              </a:rPr>
              <a:t>Planned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643116" y="4418246"/>
            <a:ext cx="2235708" cy="99023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320040" y="4547616"/>
            <a:ext cx="4050791" cy="159715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Arial"/>
              </a:rPr>
              <a:t>Capstone Deliverables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20040" y="4707331"/>
            <a:ext cx="3520440" cy="159715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18. Weekly meetings with Mina and teammate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3858768" y="4707331"/>
            <a:ext cx="530352" cy="159715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000000"/>
                </a:solidFill>
                <a:latin typeface="Arial"/>
              </a:rPr>
              <a:t>In progress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5525262" y="4737677"/>
            <a:ext cx="4098798" cy="99023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320040" y="4867046"/>
            <a:ext cx="3520440" cy="159715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19. Final report writing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3858768" y="4867046"/>
            <a:ext cx="530352" cy="159715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000000"/>
                </a:solidFill>
                <a:latin typeface="Arial"/>
              </a:rPr>
              <a:t>Planned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8506206" y="4897392"/>
            <a:ext cx="1117854" cy="99023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320040" y="5026761"/>
            <a:ext cx="3520440" cy="159715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20. Final presentation and GitHub documentation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3858768" y="5026761"/>
            <a:ext cx="530352" cy="159715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000000"/>
                </a:solidFill>
                <a:latin typeface="Arial"/>
              </a:rPr>
              <a:t>Planned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9251442" y="5057107"/>
            <a:ext cx="372618" cy="99023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320040" y="5186476"/>
            <a:ext cx="3520440" cy="159715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700" b="1" i="0">
                <a:solidFill>
                  <a:srgbClr val="000000"/>
                </a:solidFill>
                <a:latin typeface="Arial"/>
              </a:rPr>
              <a:t>21. Milestone: Final capstone submission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3858768" y="5186476"/>
            <a:ext cx="530352" cy="159715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000000"/>
                </a:solidFill>
                <a:latin typeface="Arial"/>
              </a:rPr>
              <a:t>Planned</a:t>
            </a:r>
          </a:p>
        </p:txBody>
      </p:sp>
      <p:sp>
        <p:nvSpPr>
          <p:cNvPr id="178" name="Diamond 177"/>
          <p:cNvSpPr/>
          <p:nvPr/>
        </p:nvSpPr>
        <p:spPr>
          <a:xfrm>
            <a:off x="9799714" y="5202448"/>
            <a:ext cx="127772" cy="127772"/>
          </a:xfrm>
          <a:prstGeom prst="diamond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9945774" y="5186476"/>
            <a:ext cx="640080" cy="159715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600" b="1" i="0">
                <a:solidFill>
                  <a:srgbClr val="000000"/>
                </a:solidFill>
                <a:latin typeface="Arial"/>
              </a:rPr>
              <a:t>Dec 11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320040" y="5346192"/>
            <a:ext cx="4050791" cy="159715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Arial"/>
              </a:rPr>
              <a:t>After Capstone: Toward Publication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320040" y="5505907"/>
            <a:ext cx="3520440" cy="159715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22. Extended experiments (full benchmark suite, more encoders)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3858768" y="5505907"/>
            <a:ext cx="530352" cy="159715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000000"/>
                </a:solidFill>
                <a:latin typeface="Arial"/>
              </a:rPr>
              <a:t>Planned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10032737" y="5536253"/>
            <a:ext cx="709176" cy="99023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320040" y="5665622"/>
            <a:ext cx="3520440" cy="159715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23. Manuscript drafting with Mina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3858768" y="5665622"/>
            <a:ext cx="530352" cy="159715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000000"/>
                </a:solidFill>
                <a:latin typeface="Arial"/>
              </a:rPr>
              <a:t>Planned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10369296" y="5695968"/>
            <a:ext cx="745235" cy="99023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320040" y="5825337"/>
            <a:ext cx="3520440" cy="159715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700" b="1" i="0">
                <a:solidFill>
                  <a:srgbClr val="000000"/>
                </a:solidFill>
                <a:latin typeface="Arial"/>
              </a:rPr>
              <a:t>24. Milestone: Paper submission (target venue TBD with Mina)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3858768" y="5825337"/>
            <a:ext cx="530352" cy="159715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000000"/>
                </a:solidFill>
                <a:latin typeface="Arial"/>
              </a:rPr>
              <a:t>Planned</a:t>
            </a:r>
          </a:p>
        </p:txBody>
      </p:sp>
      <p:sp>
        <p:nvSpPr>
          <p:cNvPr id="189" name="Diamond 188"/>
          <p:cNvSpPr/>
          <p:nvPr/>
        </p:nvSpPr>
        <p:spPr>
          <a:xfrm>
            <a:off x="11230744" y="5841309"/>
            <a:ext cx="127772" cy="127772"/>
          </a:xfrm>
          <a:prstGeom prst="diamond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11376804" y="5825337"/>
            <a:ext cx="640080" cy="159715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600" b="1" i="0">
                <a:solidFill>
                  <a:srgbClr val="000000"/>
                </a:solidFill>
                <a:latin typeface="Arial"/>
              </a:rPr>
              <a:t>Apr 15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320040" y="5985052"/>
            <a:ext cx="3520440" cy="159715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25. Revisions and public code release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3858768" y="5985052"/>
            <a:ext cx="530352" cy="159715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000000"/>
                </a:solidFill>
                <a:latin typeface="Arial"/>
              </a:rPr>
              <a:t>Planned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11300841" y="6015398"/>
            <a:ext cx="558926" cy="99023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320040" y="6272784"/>
            <a:ext cx="274320" cy="109728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621792" y="6236208"/>
            <a:ext cx="822960" cy="18288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Done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1463040" y="6272784"/>
            <a:ext cx="274320" cy="109728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1764792" y="6236208"/>
            <a:ext cx="822960" cy="18288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In progress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2606040" y="6272784"/>
            <a:ext cx="274320" cy="109728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2907792" y="6236208"/>
            <a:ext cx="822960" cy="18288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Planned</a:t>
            </a:r>
          </a:p>
        </p:txBody>
      </p:sp>
      <p:sp>
        <p:nvSpPr>
          <p:cNvPr id="200" name="Diamond 199"/>
          <p:cNvSpPr/>
          <p:nvPr/>
        </p:nvSpPr>
        <p:spPr>
          <a:xfrm>
            <a:off x="3822191" y="6263640"/>
            <a:ext cx="128016" cy="128016"/>
          </a:xfrm>
          <a:prstGeom prst="diamond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4005072" y="6236208"/>
            <a:ext cx="822960" cy="18288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Milestone</a:t>
            </a:r>
          </a:p>
        </p:txBody>
      </p:sp>
      <p:cxnSp>
        <p:nvCxnSpPr>
          <p:cNvPr id="202" name="Connector 201"/>
          <p:cNvCxnSpPr/>
          <p:nvPr/>
        </p:nvCxnSpPr>
        <p:spPr>
          <a:xfrm>
            <a:off x="5029200" y="6245352"/>
            <a:ext cx="0" cy="164592"/>
          </a:xfrm>
          <a:prstGeom prst="line">
            <a:avLst/>
          </a:prstGeom>
          <a:ln w="19050">
            <a:solidFill>
              <a:srgbClr val="E0A52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TextBox 202"/>
          <p:cNvSpPr txBox="1"/>
          <p:nvPr/>
        </p:nvSpPr>
        <p:spPr>
          <a:xfrm>
            <a:off x="5120640" y="6236208"/>
            <a:ext cx="1645920" cy="18288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Today (Sep 23, 2026)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6675120" y="6236208"/>
            <a:ext cx="5394960" cy="18288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/>
            <a:r>
              <a:rPr sz="700" b="0" i="1">
                <a:solidFill>
                  <a:srgbClr val="000000"/>
                </a:solidFill>
                <a:latin typeface="Arial"/>
              </a:rPr>
              <a:t>Agentic AI scope and 2027 dates to be confirmed with the course professor and Mina.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