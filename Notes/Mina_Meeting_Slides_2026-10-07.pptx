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 last meeting, Stage 1 includes the DNA modality. Following BioLangFusion, each coding sequence goes to three frozen models: Nucleotide Transformer reads it in DNA letters, RNA-FM reads it in RNA letters, and ESM-2 reads its translation. Today: what each model knows, how they relate, and the main new finding, that most of their agreement is sequence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retained sequence is embedded three ways. The DNA and RNA encoders read identical letters, so comparing them isolates what pretraining corpus and tokenizer do. RNA-FM's limit of 1,022 nucleotides matters: about two thirds of sequences in the file are longer, so it sees only their beginning.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Protein explains about 10 percent of stability variance; DNA and RNA are within fold noise even though they read the full letters. Length explains nothing. Concatenating any combination never beats protein alone. GC3 is where the nucleotide models carry information protein cannot: synonymous codon choice. Nussinov scores are small for all three; RNA-FM is highest but not separable with 200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whole spaces, the two nucleotide encoders arrange sequences fairly similarly and both agree weakly with protein. After fitting CCA projections, every pair shares a strong subspace: a DNA embedding finds its own RNA partner 55 percent of the time among 295 candidates. The layer-wise heatmaps show protein agreement peaking at its embedding layer, which is basically an amino-acid count. That pointed to composition, which the next slide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new finding. Letter, codon, and amino-acid frequencies alone explain most of each pooled embedding. Regressing them out removes most of the cross-modal agreement: CKA drops 72 to 81 percent and retrieval collapses to 2 to 11 percent. The residual agreement is largest between DNA and RNA. The control is linear, so nonlinear composition could still sit in that residual.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Neither nucleotide encoder's final-layer attention concentrates at AU-rich elements or m6A sites; the fractions passing p below 0.05 are near chance. Per-sample alignment does not reliably predict error; the RNA-protein hint does not survive correcting for three pairs. The motif test covers coding sequence only, where these motifs are less concentrated.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First, raw similarity between frozen pooled embeddings is a weak alignment target because counts reproduce most of it. Second, in the alignment-theory framing, protein pairs sit at high uniqueness. Third, alignment does not predict error, so we still propose no explicit alignment loss in Stage 2. Fourth, fusion has to beat protein alone and the concatenation plus MLP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the multi-encoder comparison in its own notebook, reporting every pair before and after the composition control, then the GTEx pilot where DNA carries promoter context. The audit showed our CSV is not the version BioLangFusion used and its supplied splits overlap, so we need a clean split before benchmarking. Questions for Mina: what the surviving agreement means, which benchmark to commit to, and whether to build the deduplicated split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A23"/>
        </a:solidFill>
      </p:bgPr>
    </p:bg>
    <p:spTree>
      <p:nvGrpSpPr>
        <p:cNvPr id="1" name=""/>
        <p:cNvGrpSpPr/>
        <p:nvPr/>
      </p:nvGrpSpPr>
      <p:grpSpPr>
        <a:xfrm>
          <a:off x="0" y="0"/>
          <a:ext cx="0" cy="0"/>
          <a:chOff x="0" y="0"/>
          <a:chExt cx="0" cy="0"/>
        </a:xfrm>
      </p:grpSpPr>
      <p:sp>
        <p:nvSpPr>
          <p:cNvPr id="2" name="Text 0"/>
          <p:cNvSpPr txBox="1"/>
          <p:nvPr/>
        </p:nvSpPr>
        <p:spPr>
          <a:xfrm>
            <a:off x="685800" y="1188720"/>
            <a:ext cx="10820095" cy="320040"/>
          </a:xfrm>
          <a:prstGeom prst="rect">
            <a:avLst/>
          </a:prstGeom>
          <a:noFill/>
          <a:ln/>
        </p:spPr>
        <p:txBody>
          <a:bodyPr wrap="square" lIns="0" tIns="0" rIns="0" bIns="0" rtlCol="0" anchor="ctr"/>
          <a:lstStyle/>
          <a:p>
            <a:pPr indent="0" marL="0">
              <a:buNone/>
            </a:pPr>
            <a:r>
              <a:rPr lang="en-US" sz="1300" b="1" spc="300" kern="0" dirty="0">
                <a:solidFill>
                  <a:srgbClr val="A9CC8E"/>
                </a:solidFill>
                <a:latin typeface="Calibri" pitchFamily="34" charset="0"/>
                <a:ea typeface="Calibri" pitchFamily="34" charset="-122"/>
                <a:cs typeface="Calibri" pitchFamily="34" charset="-120"/>
              </a:rPr>
              <a:t>MULTIMODAL-BIO-FUSION  ·  PROGRESS UPDATE</a:t>
            </a:r>
            <a:endParaRPr lang="en-US" sz="1300" dirty="0"/>
          </a:p>
        </p:txBody>
      </p:sp>
      <p:sp>
        <p:nvSpPr>
          <p:cNvPr id="3" name="Text 1"/>
          <p:cNvSpPr txBox="1"/>
          <p:nvPr/>
        </p:nvSpPr>
        <p:spPr>
          <a:xfrm>
            <a:off x="685800" y="1645920"/>
            <a:ext cx="10058400" cy="914400"/>
          </a:xfrm>
          <a:prstGeom prst="rect">
            <a:avLst/>
          </a:prstGeom>
          <a:noFill/>
          <a:ln/>
        </p:spPr>
        <p:txBody>
          <a:bodyPr wrap="square" lIns="0" tIns="0" rIns="0" bIns="0" rtlCol="0" anchor="ctr"/>
          <a:lstStyle/>
          <a:p>
            <a:pPr indent="0" marL="0">
              <a:buNone/>
            </a:pPr>
            <a:r>
              <a:rPr lang="en-US" sz="4600" b="1" dirty="0">
                <a:solidFill>
                  <a:srgbClr val="F4F7F1"/>
                </a:solidFill>
                <a:latin typeface="Cambria" pitchFamily="34" charset="0"/>
                <a:ea typeface="Cambria" pitchFamily="34" charset="-122"/>
                <a:cs typeface="Cambria" pitchFamily="34" charset="-120"/>
              </a:rPr>
              <a:t>Stage 1 with DNA, RNA, and Protein</a:t>
            </a:r>
            <a:endParaRPr lang="en-US" sz="4600" dirty="0"/>
          </a:p>
        </p:txBody>
      </p:sp>
      <p:sp>
        <p:nvSpPr>
          <p:cNvPr id="4" name="Text 2"/>
          <p:cNvSpPr txBox="1"/>
          <p:nvPr/>
        </p:nvSpPr>
        <p:spPr>
          <a:xfrm>
            <a:off x="685800" y="2743200"/>
            <a:ext cx="9326880" cy="1005840"/>
          </a:xfrm>
          <a:prstGeom prst="rect">
            <a:avLst/>
          </a:prstGeom>
          <a:noFill/>
          <a:ln/>
        </p:spPr>
        <p:txBody>
          <a:bodyPr wrap="square" lIns="0" tIns="0" rIns="0" bIns="0" rtlCol="0" anchor="t"/>
          <a:lstStyle/>
          <a:p>
            <a:pPr indent="0" marL="0">
              <a:buNone/>
            </a:pPr>
            <a:r>
              <a:rPr lang="en-US" sz="1800" dirty="0">
                <a:solidFill>
                  <a:srgbClr val="C9DBC0"/>
                </a:solidFill>
                <a:latin typeface="Calibri" pitchFamily="34" charset="0"/>
                <a:ea typeface="Calibri" pitchFamily="34" charset="-122"/>
                <a:cs typeface="Calibri" pitchFamily="34" charset="-120"/>
              </a:rPr>
              <a:t>One coding sequence, three frozen foundation models. What each model already knows, how their representations relate, and how much of that relationship is just sequence composition.</a:t>
            </a:r>
            <a:endParaRPr lang="en-US" sz="1800" dirty="0"/>
          </a:p>
        </p:txBody>
      </p:sp>
      <p:sp>
        <p:nvSpPr>
          <p:cNvPr id="5" name="Shape 3"/>
          <p:cNvSpPr/>
          <p:nvPr/>
        </p:nvSpPr>
        <p:spPr>
          <a:xfrm>
            <a:off x="685800" y="4069080"/>
            <a:ext cx="3291840" cy="457200"/>
          </a:xfrm>
          <a:prstGeom prst="roundRect">
            <a:avLst>
              <a:gd name="adj" fmla="val 50000"/>
            </a:avLst>
          </a:prstGeom>
          <a:solidFill>
            <a:srgbClr val="A9CC8E"/>
          </a:solidFill>
          <a:ln w="12700">
            <a:solidFill>
              <a:srgbClr val="A9CC8E"/>
            </a:solidFill>
            <a:prstDash val="solid"/>
          </a:ln>
        </p:spPr>
      </p:sp>
      <p:sp>
        <p:nvSpPr>
          <p:cNvPr id="6" name="Text 4"/>
          <p:cNvSpPr txBox="1"/>
          <p:nvPr/>
        </p:nvSpPr>
        <p:spPr>
          <a:xfrm>
            <a:off x="685800" y="4069080"/>
            <a:ext cx="3291840" cy="457200"/>
          </a:xfrm>
          <a:prstGeom prst="rect">
            <a:avLst/>
          </a:prstGeom>
          <a:noFill/>
          <a:ln/>
        </p:spPr>
        <p:txBody>
          <a:bodyPr wrap="square" lIns="0" tIns="0" rIns="0" bIns="0" rtlCol="0" anchor="ctr"/>
          <a:lstStyle/>
          <a:p>
            <a:pPr algn="ctr" indent="0" marL="0">
              <a:buNone/>
            </a:pPr>
            <a:r>
              <a:rPr lang="en-US" sz="1400" b="1" dirty="0">
                <a:solidFill>
                  <a:srgbClr val="1E3A23"/>
                </a:solidFill>
                <a:latin typeface="Calibri" pitchFamily="34" charset="0"/>
                <a:ea typeface="Calibri" pitchFamily="34" charset="-122"/>
                <a:cs typeface="Calibri" pitchFamily="34" charset="-120"/>
              </a:rPr>
              <a:t>DNA · Nucleotide Transformer</a:t>
            </a:r>
            <a:endParaRPr lang="en-US" sz="1400" dirty="0"/>
          </a:p>
        </p:txBody>
      </p:sp>
      <p:sp>
        <p:nvSpPr>
          <p:cNvPr id="7" name="Shape 5"/>
          <p:cNvSpPr/>
          <p:nvPr/>
        </p:nvSpPr>
        <p:spPr>
          <a:xfrm>
            <a:off x="4160520" y="4069080"/>
            <a:ext cx="1828800" cy="457200"/>
          </a:xfrm>
          <a:prstGeom prst="roundRect">
            <a:avLst>
              <a:gd name="adj" fmla="val 50000"/>
            </a:avLst>
          </a:prstGeom>
          <a:solidFill>
            <a:srgbClr val="A9CC8E"/>
          </a:solidFill>
          <a:ln w="12700">
            <a:solidFill>
              <a:srgbClr val="A9CC8E"/>
            </a:solidFill>
            <a:prstDash val="solid"/>
          </a:ln>
        </p:spPr>
      </p:sp>
      <p:sp>
        <p:nvSpPr>
          <p:cNvPr id="8" name="Text 6"/>
          <p:cNvSpPr txBox="1"/>
          <p:nvPr/>
        </p:nvSpPr>
        <p:spPr>
          <a:xfrm>
            <a:off x="4160520" y="4069080"/>
            <a:ext cx="1828800" cy="457200"/>
          </a:xfrm>
          <a:prstGeom prst="rect">
            <a:avLst/>
          </a:prstGeom>
          <a:noFill/>
          <a:ln/>
        </p:spPr>
        <p:txBody>
          <a:bodyPr wrap="square" lIns="0" tIns="0" rIns="0" bIns="0" rtlCol="0" anchor="ctr"/>
          <a:lstStyle/>
          <a:p>
            <a:pPr algn="ctr" indent="0" marL="0">
              <a:buNone/>
            </a:pPr>
            <a:r>
              <a:rPr lang="en-US" sz="1400" b="1" dirty="0">
                <a:solidFill>
                  <a:srgbClr val="1E3A23"/>
                </a:solidFill>
                <a:latin typeface="Calibri" pitchFamily="34" charset="0"/>
                <a:ea typeface="Calibri" pitchFamily="34" charset="-122"/>
                <a:cs typeface="Calibri" pitchFamily="34" charset="-120"/>
              </a:rPr>
              <a:t>RNA · RNA-FM</a:t>
            </a:r>
            <a:endParaRPr lang="en-US" sz="1400" dirty="0"/>
          </a:p>
        </p:txBody>
      </p:sp>
      <p:sp>
        <p:nvSpPr>
          <p:cNvPr id="9" name="Shape 7"/>
          <p:cNvSpPr/>
          <p:nvPr/>
        </p:nvSpPr>
        <p:spPr>
          <a:xfrm>
            <a:off x="6172200" y="4069080"/>
            <a:ext cx="2011680" cy="457200"/>
          </a:xfrm>
          <a:prstGeom prst="roundRect">
            <a:avLst>
              <a:gd name="adj" fmla="val 50000"/>
            </a:avLst>
          </a:prstGeom>
          <a:solidFill>
            <a:srgbClr val="A9CC8E"/>
          </a:solidFill>
          <a:ln w="12700">
            <a:solidFill>
              <a:srgbClr val="A9CC8E"/>
            </a:solidFill>
            <a:prstDash val="solid"/>
          </a:ln>
        </p:spPr>
      </p:sp>
      <p:sp>
        <p:nvSpPr>
          <p:cNvPr id="10" name="Text 8"/>
          <p:cNvSpPr txBox="1"/>
          <p:nvPr/>
        </p:nvSpPr>
        <p:spPr>
          <a:xfrm>
            <a:off x="6172200" y="4069080"/>
            <a:ext cx="2011680" cy="457200"/>
          </a:xfrm>
          <a:prstGeom prst="rect">
            <a:avLst/>
          </a:prstGeom>
          <a:noFill/>
          <a:ln/>
        </p:spPr>
        <p:txBody>
          <a:bodyPr wrap="square" lIns="0" tIns="0" rIns="0" bIns="0" rtlCol="0" anchor="ctr"/>
          <a:lstStyle/>
          <a:p>
            <a:pPr algn="ctr" indent="0" marL="0">
              <a:buNone/>
            </a:pPr>
            <a:r>
              <a:rPr lang="en-US" sz="1400" b="1" dirty="0">
                <a:solidFill>
                  <a:srgbClr val="1E3A23"/>
                </a:solidFill>
                <a:latin typeface="Calibri" pitchFamily="34" charset="0"/>
                <a:ea typeface="Calibri" pitchFamily="34" charset="-122"/>
                <a:cs typeface="Calibri" pitchFamily="34" charset="-120"/>
              </a:rPr>
              <a:t>Protein · ESM-2</a:t>
            </a:r>
            <a:endParaRPr lang="en-US" sz="1400" dirty="0"/>
          </a:p>
        </p:txBody>
      </p:sp>
      <p:sp>
        <p:nvSpPr>
          <p:cNvPr id="11" name="Text 9"/>
          <p:cNvSpPr txBox="1"/>
          <p:nvPr/>
        </p:nvSpPr>
        <p:spPr>
          <a:xfrm>
            <a:off x="685800" y="6263640"/>
            <a:ext cx="10820095" cy="320040"/>
          </a:xfrm>
          <a:prstGeom prst="rect">
            <a:avLst/>
          </a:prstGeom>
          <a:noFill/>
          <a:ln/>
        </p:spPr>
        <p:txBody>
          <a:bodyPr wrap="square" lIns="0" tIns="0" rIns="0" bIns="0" rtlCol="0" anchor="ctr"/>
          <a:lstStyle/>
          <a:p>
            <a:pPr indent="0" marL="0">
              <a:buNone/>
            </a:pPr>
            <a:r>
              <a:rPr lang="en-US" sz="1100" dirty="0">
                <a:solidFill>
                  <a:srgbClr val="A9C2A0"/>
                </a:solidFill>
                <a:latin typeface="Calibri" pitchFamily="34" charset="0"/>
                <a:ea typeface="Calibri" pitchFamily="34" charset="-122"/>
                <a:cs typeface="Calibri" pitchFamily="34" charset="-120"/>
              </a:rPr>
              <a:t>Julian McKinley and Chase Di Maria Breisinger   |   MSDA AI Track, UCF   |   Meeting with Mina Basirat, October 7,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502920"/>
            <a:ext cx="10820095"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STAGE 1 SETUP</a:t>
            </a:r>
            <a:endParaRPr lang="en-US" sz="1300" dirty="0"/>
          </a:p>
        </p:txBody>
      </p:sp>
      <p:sp>
        <p:nvSpPr>
          <p:cNvPr id="3" name="Text 1"/>
          <p:cNvSpPr txBox="1"/>
          <p:nvPr/>
        </p:nvSpPr>
        <p:spPr>
          <a:xfrm>
            <a:off x="685800" y="822960"/>
            <a:ext cx="10820095" cy="731520"/>
          </a:xfrm>
          <a:prstGeom prst="rect">
            <a:avLst/>
          </a:prstGeom>
          <a:noFill/>
          <a:ln/>
        </p:spPr>
        <p:txBody>
          <a:bodyPr wrap="square" lIns="0" tIns="0" rIns="0" bIns="0" rtlCol="0" anchor="t"/>
          <a:lstStyle/>
          <a:p>
            <a:pPr indent="0" marL="0">
              <a:buNone/>
            </a:pPr>
            <a:r>
              <a:rPr lang="en-US" sz="3400" b="1" dirty="0">
                <a:solidFill>
                  <a:srgbClr val="1E2A20"/>
                </a:solidFill>
                <a:latin typeface="Cambria" pitchFamily="34" charset="0"/>
                <a:ea typeface="Cambria" pitchFamily="34" charset="-122"/>
                <a:cs typeface="Cambria" pitchFamily="34" charset="-120"/>
              </a:rPr>
              <a:t>One coding sequence, three frozen encoders</a:t>
            </a:r>
            <a:endParaRPr lang="en-US" sz="3400" dirty="0"/>
          </a:p>
        </p:txBody>
      </p:sp>
      <p:sp>
        <p:nvSpPr>
          <p:cNvPr id="4" name="Shape 2"/>
          <p:cNvSpPr/>
          <p:nvPr/>
        </p:nvSpPr>
        <p:spPr>
          <a:xfrm>
            <a:off x="685800" y="1828800"/>
            <a:ext cx="3423818" cy="2651760"/>
          </a:xfrm>
          <a:prstGeom prst="roundRect">
            <a:avLst>
              <a:gd name="adj" fmla="val 4138"/>
            </a:avLst>
          </a:prstGeom>
          <a:solidFill>
            <a:srgbClr val="EEF3EA"/>
          </a:solidFill>
          <a:ln w="12700">
            <a:solidFill>
              <a:srgbClr val="EEF3EA"/>
            </a:solidFill>
            <a:prstDash val="solid"/>
          </a:ln>
        </p:spPr>
      </p:sp>
      <p:sp>
        <p:nvSpPr>
          <p:cNvPr id="5" name="Text 3"/>
          <p:cNvSpPr txBox="1"/>
          <p:nvPr/>
        </p:nvSpPr>
        <p:spPr>
          <a:xfrm>
            <a:off x="960120" y="2057400"/>
            <a:ext cx="2875178" cy="274320"/>
          </a:xfrm>
          <a:prstGeom prst="rect">
            <a:avLst/>
          </a:prstGeom>
          <a:noFill/>
          <a:ln/>
        </p:spPr>
        <p:txBody>
          <a:bodyPr wrap="square" lIns="0" tIns="0" rIns="0" bIns="0" rtlCol="0" anchor="ctr"/>
          <a:lstStyle/>
          <a:p>
            <a:pPr indent="0" marL="0">
              <a:buNone/>
            </a:pPr>
            <a:r>
              <a:rPr lang="en-US" sz="1200" b="1" spc="300" kern="0" dirty="0">
                <a:solidFill>
                  <a:srgbClr val="3E7A34"/>
                </a:solidFill>
                <a:latin typeface="Calibri" pitchFamily="34" charset="0"/>
                <a:ea typeface="Calibri" pitchFamily="34" charset="-122"/>
                <a:cs typeface="Calibri" pitchFamily="34" charset="-120"/>
              </a:rPr>
              <a:t>DNA</a:t>
            </a:r>
            <a:endParaRPr lang="en-US" sz="1200" dirty="0"/>
          </a:p>
        </p:txBody>
      </p:sp>
      <p:sp>
        <p:nvSpPr>
          <p:cNvPr id="6" name="Text 4"/>
          <p:cNvSpPr txBox="1"/>
          <p:nvPr/>
        </p:nvSpPr>
        <p:spPr>
          <a:xfrm>
            <a:off x="960120" y="2377440"/>
            <a:ext cx="2875178" cy="731520"/>
          </a:xfrm>
          <a:prstGeom prst="rect">
            <a:avLst/>
          </a:prstGeom>
          <a:noFill/>
          <a:ln/>
        </p:spPr>
        <p:txBody>
          <a:bodyPr wrap="square" lIns="0" tIns="0" rIns="0" bIns="0" rtlCol="0" anchor="t"/>
          <a:lstStyle/>
          <a:p>
            <a:pPr indent="0" marL="0">
              <a:buNone/>
            </a:pPr>
            <a:r>
              <a:rPr lang="en-US" sz="2000" b="1" dirty="0">
                <a:solidFill>
                  <a:srgbClr val="1E2A20"/>
                </a:solidFill>
                <a:latin typeface="Cambria" pitchFamily="34" charset="0"/>
                <a:ea typeface="Cambria" pitchFamily="34" charset="-122"/>
                <a:cs typeface="Cambria" pitchFamily="34" charset="-120"/>
              </a:rPr>
              <a:t>Nucleotide Transformer 500M</a:t>
            </a:r>
            <a:endParaRPr lang="en-US" sz="2000" dirty="0"/>
          </a:p>
        </p:txBody>
      </p:sp>
      <p:sp>
        <p:nvSpPr>
          <p:cNvPr id="7" name="Text 5"/>
          <p:cNvSpPr txBox="1"/>
          <p:nvPr/>
        </p:nvSpPr>
        <p:spPr>
          <a:xfrm>
            <a:off x="960120" y="3108960"/>
            <a:ext cx="2875178" cy="1234440"/>
          </a:xfrm>
          <a:prstGeom prst="rect">
            <a:avLst/>
          </a:prstGeom>
          <a:noFill/>
          <a:ln/>
        </p:spPr>
        <p:txBody>
          <a:bodyPr wrap="square" lIns="0" tIns="0" rIns="0" bIns="0" rtlCol="0" anchor="t"/>
          <a:lstStyle/>
          <a:p>
            <a:pPr indent="0" marL="0">
              <a:buNone/>
            </a:pPr>
            <a:r>
              <a:rPr lang="en-US" sz="1400" dirty="0">
                <a:solidFill>
                  <a:srgbClr val="46524A"/>
                </a:solidFill>
                <a:latin typeface="Calibri" pitchFamily="34" charset="0"/>
                <a:ea typeface="Calibri" pitchFamily="34" charset="-122"/>
                <a:cs typeface="Calibri" pitchFamily="34" charset="-120"/>
              </a:rPr>
              <a:t>Human reference genome. Reads the sequence in DNA letters, 6-mer tokens, about 6,000 nt. 1,280 dimensions.</a:t>
            </a:r>
            <a:endParaRPr lang="en-US" sz="1400" dirty="0"/>
          </a:p>
        </p:txBody>
      </p:sp>
      <p:sp>
        <p:nvSpPr>
          <p:cNvPr id="8" name="Shape 6"/>
          <p:cNvSpPr/>
          <p:nvPr/>
        </p:nvSpPr>
        <p:spPr>
          <a:xfrm>
            <a:off x="4383938" y="1828800"/>
            <a:ext cx="3423818" cy="2651760"/>
          </a:xfrm>
          <a:prstGeom prst="roundRect">
            <a:avLst>
              <a:gd name="adj" fmla="val 4138"/>
            </a:avLst>
          </a:prstGeom>
          <a:solidFill>
            <a:srgbClr val="EEF3EA"/>
          </a:solidFill>
          <a:ln w="12700">
            <a:solidFill>
              <a:srgbClr val="EEF3EA"/>
            </a:solidFill>
            <a:prstDash val="solid"/>
          </a:ln>
        </p:spPr>
      </p:sp>
      <p:sp>
        <p:nvSpPr>
          <p:cNvPr id="9" name="Text 7"/>
          <p:cNvSpPr txBox="1"/>
          <p:nvPr/>
        </p:nvSpPr>
        <p:spPr>
          <a:xfrm>
            <a:off x="4658258" y="2057400"/>
            <a:ext cx="2875178" cy="274320"/>
          </a:xfrm>
          <a:prstGeom prst="rect">
            <a:avLst/>
          </a:prstGeom>
          <a:noFill/>
          <a:ln/>
        </p:spPr>
        <p:txBody>
          <a:bodyPr wrap="square" lIns="0" tIns="0" rIns="0" bIns="0" rtlCol="0" anchor="ctr"/>
          <a:lstStyle/>
          <a:p>
            <a:pPr indent="0" marL="0">
              <a:buNone/>
            </a:pPr>
            <a:r>
              <a:rPr lang="en-US" sz="1200" b="1" spc="300" kern="0" dirty="0">
                <a:solidFill>
                  <a:srgbClr val="3E7A34"/>
                </a:solidFill>
                <a:latin typeface="Calibri" pitchFamily="34" charset="0"/>
                <a:ea typeface="Calibri" pitchFamily="34" charset="-122"/>
                <a:cs typeface="Calibri" pitchFamily="34" charset="-120"/>
              </a:rPr>
              <a:t>RNA</a:t>
            </a:r>
            <a:endParaRPr lang="en-US" sz="1200" dirty="0"/>
          </a:p>
        </p:txBody>
      </p:sp>
      <p:sp>
        <p:nvSpPr>
          <p:cNvPr id="10" name="Text 8"/>
          <p:cNvSpPr txBox="1"/>
          <p:nvPr/>
        </p:nvSpPr>
        <p:spPr>
          <a:xfrm>
            <a:off x="4658258" y="2377440"/>
            <a:ext cx="2875178" cy="731520"/>
          </a:xfrm>
          <a:prstGeom prst="rect">
            <a:avLst/>
          </a:prstGeom>
          <a:noFill/>
          <a:ln/>
        </p:spPr>
        <p:txBody>
          <a:bodyPr wrap="square" lIns="0" tIns="0" rIns="0" bIns="0" rtlCol="0" anchor="t"/>
          <a:lstStyle/>
          <a:p>
            <a:pPr indent="0" marL="0">
              <a:buNone/>
            </a:pPr>
            <a:r>
              <a:rPr lang="en-US" sz="2000" b="1" dirty="0">
                <a:solidFill>
                  <a:srgbClr val="1E2A20"/>
                </a:solidFill>
                <a:latin typeface="Cambria" pitchFamily="34" charset="0"/>
                <a:ea typeface="Cambria" pitchFamily="34" charset="-122"/>
                <a:cs typeface="Cambria" pitchFamily="34" charset="-120"/>
              </a:rPr>
              <a:t>RNA-FM</a:t>
            </a:r>
            <a:endParaRPr lang="en-US" sz="2000" dirty="0"/>
          </a:p>
        </p:txBody>
      </p:sp>
      <p:sp>
        <p:nvSpPr>
          <p:cNvPr id="11" name="Text 9"/>
          <p:cNvSpPr txBox="1"/>
          <p:nvPr/>
        </p:nvSpPr>
        <p:spPr>
          <a:xfrm>
            <a:off x="4658258" y="3108960"/>
            <a:ext cx="2875178" cy="1234440"/>
          </a:xfrm>
          <a:prstGeom prst="rect">
            <a:avLst/>
          </a:prstGeom>
          <a:noFill/>
          <a:ln/>
        </p:spPr>
        <p:txBody>
          <a:bodyPr wrap="square" lIns="0" tIns="0" rIns="0" bIns="0" rtlCol="0" anchor="t"/>
          <a:lstStyle/>
          <a:p>
            <a:pPr indent="0" marL="0">
              <a:buNone/>
            </a:pPr>
            <a:r>
              <a:rPr lang="en-US" sz="1400" dirty="0">
                <a:solidFill>
                  <a:srgbClr val="46524A"/>
                </a:solidFill>
                <a:latin typeface="Calibri" pitchFamily="34" charset="0"/>
                <a:ea typeface="Calibri" pitchFamily="34" charset="-122"/>
                <a:cs typeface="Calibri" pitchFamily="34" charset="-120"/>
              </a:rPr>
              <a:t>Non-coding RNA (RNAcentral), BioLangFusion's RNA encoder. Reads RNA letters one at a time, first 1,022 nt. 640 dimensions.</a:t>
            </a:r>
            <a:endParaRPr lang="en-US" sz="1400" dirty="0"/>
          </a:p>
        </p:txBody>
      </p:sp>
      <p:sp>
        <p:nvSpPr>
          <p:cNvPr id="12" name="Shape 10"/>
          <p:cNvSpPr/>
          <p:nvPr/>
        </p:nvSpPr>
        <p:spPr>
          <a:xfrm>
            <a:off x="8082077" y="1828800"/>
            <a:ext cx="3423818" cy="2651760"/>
          </a:xfrm>
          <a:prstGeom prst="roundRect">
            <a:avLst>
              <a:gd name="adj" fmla="val 4138"/>
            </a:avLst>
          </a:prstGeom>
          <a:solidFill>
            <a:srgbClr val="EEF3EA"/>
          </a:solidFill>
          <a:ln w="12700">
            <a:solidFill>
              <a:srgbClr val="EEF3EA"/>
            </a:solidFill>
            <a:prstDash val="solid"/>
          </a:ln>
        </p:spPr>
      </p:sp>
      <p:sp>
        <p:nvSpPr>
          <p:cNvPr id="13" name="Text 11"/>
          <p:cNvSpPr txBox="1"/>
          <p:nvPr/>
        </p:nvSpPr>
        <p:spPr>
          <a:xfrm>
            <a:off x="8356397" y="2057400"/>
            <a:ext cx="2875178" cy="274320"/>
          </a:xfrm>
          <a:prstGeom prst="rect">
            <a:avLst/>
          </a:prstGeom>
          <a:noFill/>
          <a:ln/>
        </p:spPr>
        <p:txBody>
          <a:bodyPr wrap="square" lIns="0" tIns="0" rIns="0" bIns="0" rtlCol="0" anchor="ctr"/>
          <a:lstStyle/>
          <a:p>
            <a:pPr indent="0" marL="0">
              <a:buNone/>
            </a:pPr>
            <a:r>
              <a:rPr lang="en-US" sz="1200" b="1" spc="300" kern="0" dirty="0">
                <a:solidFill>
                  <a:srgbClr val="3E7A34"/>
                </a:solidFill>
                <a:latin typeface="Calibri" pitchFamily="34" charset="0"/>
                <a:ea typeface="Calibri" pitchFamily="34" charset="-122"/>
                <a:cs typeface="Calibri" pitchFamily="34" charset="-120"/>
              </a:rPr>
              <a:t>PROTEIN</a:t>
            </a:r>
            <a:endParaRPr lang="en-US" sz="1200" dirty="0"/>
          </a:p>
        </p:txBody>
      </p:sp>
      <p:sp>
        <p:nvSpPr>
          <p:cNvPr id="14" name="Text 12"/>
          <p:cNvSpPr txBox="1"/>
          <p:nvPr/>
        </p:nvSpPr>
        <p:spPr>
          <a:xfrm>
            <a:off x="8356397" y="2377440"/>
            <a:ext cx="2875178" cy="731520"/>
          </a:xfrm>
          <a:prstGeom prst="rect">
            <a:avLst/>
          </a:prstGeom>
          <a:noFill/>
          <a:ln/>
        </p:spPr>
        <p:txBody>
          <a:bodyPr wrap="square" lIns="0" tIns="0" rIns="0" bIns="0" rtlCol="0" anchor="t"/>
          <a:lstStyle/>
          <a:p>
            <a:pPr indent="0" marL="0">
              <a:buNone/>
            </a:pPr>
            <a:r>
              <a:rPr lang="en-US" sz="2000" b="1" dirty="0">
                <a:solidFill>
                  <a:srgbClr val="1E2A20"/>
                </a:solidFill>
                <a:latin typeface="Cambria" pitchFamily="34" charset="0"/>
                <a:ea typeface="Cambria" pitchFamily="34" charset="-122"/>
                <a:cs typeface="Cambria" pitchFamily="34" charset="-120"/>
              </a:rPr>
              <a:t>ESM-2 35M</a:t>
            </a:r>
            <a:endParaRPr lang="en-US" sz="2000" dirty="0"/>
          </a:p>
        </p:txBody>
      </p:sp>
      <p:sp>
        <p:nvSpPr>
          <p:cNvPr id="15" name="Text 13"/>
          <p:cNvSpPr txBox="1"/>
          <p:nvPr/>
        </p:nvSpPr>
        <p:spPr>
          <a:xfrm>
            <a:off x="8356397" y="3108960"/>
            <a:ext cx="2875178" cy="1234440"/>
          </a:xfrm>
          <a:prstGeom prst="rect">
            <a:avLst/>
          </a:prstGeom>
          <a:noFill/>
          <a:ln/>
        </p:spPr>
        <p:txBody>
          <a:bodyPr wrap="square" lIns="0" tIns="0" rIns="0" bIns="0" rtlCol="0" anchor="t"/>
          <a:lstStyle/>
          <a:p>
            <a:pPr indent="0" marL="0">
              <a:buNone/>
            </a:pPr>
            <a:r>
              <a:rPr lang="en-US" sz="1400" dirty="0">
                <a:solidFill>
                  <a:srgbClr val="46524A"/>
                </a:solidFill>
                <a:latin typeface="Calibri" pitchFamily="34" charset="0"/>
                <a:ea typeface="Calibri" pitchFamily="34" charset="-122"/>
                <a:cs typeface="Calibri" pitchFamily="34" charset="-120"/>
              </a:rPr>
              <a:t>UniRef50 proteins. Reads the translated protein, one token per amino acid. 480 dimensions.</a:t>
            </a:r>
            <a:endParaRPr lang="en-US" sz="1400" dirty="0"/>
          </a:p>
        </p:txBody>
      </p:sp>
      <p:sp>
        <p:nvSpPr>
          <p:cNvPr id="16" name="Text 14"/>
          <p:cNvSpPr txBox="1"/>
          <p:nvPr/>
        </p:nvSpPr>
        <p:spPr>
          <a:xfrm>
            <a:off x="685800" y="4754880"/>
            <a:ext cx="10820095" cy="914400"/>
          </a:xfrm>
          <a:prstGeom prst="rect">
            <a:avLst/>
          </a:prstGeom>
          <a:noFill/>
          <a:ln/>
        </p:spPr>
        <p:txBody>
          <a:bodyPr wrap="square" lIns="0" tIns="0" rIns="0" bIns="0" rtlCol="0" anchor="t"/>
          <a:lstStyle/>
          <a:p>
            <a:pPr indent="0" marL="0">
              <a:buNone/>
            </a:pPr>
            <a:r>
              <a:rPr lang="en-US" sz="1600" b="1" dirty="0">
                <a:solidFill>
                  <a:srgbClr val="1E2A20"/>
                </a:solidFill>
                <a:latin typeface="Calibri" pitchFamily="34" charset="0"/>
                <a:ea typeface="Calibri" pitchFamily="34" charset="-122"/>
                <a:cs typeface="Calibri" pitchFamily="34" charset="-120"/>
              </a:rPr>
              <a:t>Why the same sequence three ways: </a:t>
            </a:r>
            <a:pPr indent="0" marL="0">
              <a:buNone/>
            </a:pPr>
            <a:r>
              <a:rPr lang="en-US" sz="1600" dirty="0">
                <a:solidFill>
                  <a:srgbClr val="1E2A20"/>
                </a:solidFill>
                <a:latin typeface="Calibri" pitchFamily="34" charset="0"/>
                <a:ea typeface="Calibri" pitchFamily="34" charset="-122"/>
                <a:cs typeface="Calibri" pitchFamily="34" charset="-120"/>
              </a:rPr>
              <a:t>the stability data hold only the coding sequence, so, as in BioLangFusion, a modality is defined by the encoder. Differences between encoders reflect pretraining and tokenization, not new biological input.</a:t>
            </a:r>
            <a:endParaRPr lang="en-US" sz="1600" dirty="0"/>
          </a:p>
        </p:txBody>
      </p:sp>
      <p:sp>
        <p:nvSpPr>
          <p:cNvPr id="17" name="Text 15"/>
          <p:cNvSpPr txBox="1"/>
          <p:nvPr/>
        </p:nvSpPr>
        <p:spPr>
          <a:xfrm>
            <a:off x="685800" y="6263640"/>
            <a:ext cx="10820095" cy="32004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981 of 1,000 sampled mRNA stability sequences retained (964 distinct). All encoders frozen; mean-pooled final layer.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502920"/>
            <a:ext cx="10820095"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TRACK A · DECODABILITY</a:t>
            </a:r>
            <a:endParaRPr lang="en-US" sz="1300" dirty="0"/>
          </a:p>
        </p:txBody>
      </p:sp>
      <p:sp>
        <p:nvSpPr>
          <p:cNvPr id="3" name="Text 1"/>
          <p:cNvSpPr txBox="1"/>
          <p:nvPr/>
        </p:nvSpPr>
        <p:spPr>
          <a:xfrm>
            <a:off x="685800" y="822960"/>
            <a:ext cx="10820095" cy="731520"/>
          </a:xfrm>
          <a:prstGeom prst="rect">
            <a:avLst/>
          </a:prstGeom>
          <a:noFill/>
          <a:ln/>
        </p:spPr>
        <p:txBody>
          <a:bodyPr wrap="square" lIns="0" tIns="0" rIns="0" bIns="0" rtlCol="0" anchor="t"/>
          <a:lstStyle/>
          <a:p>
            <a:pPr indent="0" marL="0">
              <a:buNone/>
            </a:pPr>
            <a:r>
              <a:rPr lang="en-US" sz="3400" b="1" dirty="0">
                <a:solidFill>
                  <a:srgbClr val="1E2A20"/>
                </a:solidFill>
                <a:latin typeface="Cambria" pitchFamily="34" charset="0"/>
                <a:ea typeface="Cambria" pitchFamily="34" charset="-122"/>
                <a:cs typeface="Cambria" pitchFamily="34" charset="-120"/>
              </a:rPr>
              <a:t>Only protein predicts stability</a:t>
            </a:r>
            <a:endParaRPr lang="en-US" sz="3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85800" y="1828800"/>
          <a:ext cx="6675120" cy="914400"/>
        </p:xfrm>
        <a:graphic>
          <a:graphicData uri="http://schemas.openxmlformats.org/drawingml/2006/table">
            <a:tbl>
              <a:tblPr/>
              <a:tblGrid>
                <a:gridCol w="2834640"/>
                <a:gridCol w="1280160"/>
                <a:gridCol w="1280160"/>
                <a:gridCol w="1280160"/>
              </a:tblGrid>
              <a:tr h="438912">
                <a:tc>
                  <a:txBody>
                    <a:bodyPr/>
                    <a:lstStyle/>
                    <a:p>
                      <a:pPr algn="l" indent="0" marL="0">
                        <a:buNone/>
                      </a:pPr>
                      <a:r>
                        <a:rPr lang="en-US" sz="1500" b="1" dirty="0">
                          <a:solidFill>
                            <a:srgbClr val="1E2A20"/>
                          </a:solidFill>
                          <a:latin typeface="Calibri" pitchFamily="34" charset="0"/>
                          <a:ea typeface="Calibri" pitchFamily="34" charset="-122"/>
                          <a:cs typeface="Calibri" pitchFamily="34" charset="-120"/>
                        </a:rPr>
                        <a:t>Linear probe, mean R²</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500" b="1" dirty="0">
                          <a:solidFill>
                            <a:srgbClr val="1E2A20"/>
                          </a:solidFill>
                          <a:latin typeface="Calibri" pitchFamily="34" charset="0"/>
                          <a:ea typeface="Calibri" pitchFamily="34" charset="-122"/>
                          <a:cs typeface="Calibri" pitchFamily="34" charset="-120"/>
                        </a:rPr>
                        <a:t>DNA</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500" b="1" dirty="0">
                          <a:solidFill>
                            <a:srgbClr val="1E2A20"/>
                          </a:solidFill>
                          <a:latin typeface="Calibri" pitchFamily="34" charset="0"/>
                          <a:ea typeface="Calibri" pitchFamily="34" charset="-122"/>
                          <a:cs typeface="Calibri" pitchFamily="34" charset="-120"/>
                        </a:rPr>
                        <a:t>RNA</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500" b="1" dirty="0">
                          <a:solidFill>
                            <a:srgbClr val="1E2A20"/>
                          </a:solidFill>
                          <a:latin typeface="Calibri" pitchFamily="34" charset="0"/>
                          <a:ea typeface="Calibri" pitchFamily="34" charset="-122"/>
                          <a:cs typeface="Calibri" pitchFamily="34" charset="-120"/>
                        </a:rPr>
                        <a:t>Protein</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r>
              <a:tr h="438912">
                <a:tc>
                  <a:txBody>
                    <a:bodyPr/>
                    <a:lstStyle/>
                    <a:p>
                      <a:pPr algn="l" indent="0" marL="0">
                        <a:buNone/>
                      </a:pPr>
                      <a:r>
                        <a:rPr lang="en-US" sz="1500" dirty="0">
                          <a:solidFill>
                            <a:srgbClr val="1E2A20"/>
                          </a:solidFill>
                          <a:latin typeface="Calibri" pitchFamily="34" charset="0"/>
                          <a:ea typeface="Calibri" pitchFamily="34" charset="-122"/>
                          <a:cs typeface="Calibri" pitchFamily="34" charset="-120"/>
                        </a:rPr>
                        <a:t>mRNA stability</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0.015</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0.028</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0.103</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438912">
                <a:tc>
                  <a:txBody>
                    <a:bodyPr/>
                    <a:lstStyle/>
                    <a:p>
                      <a:pPr algn="l" indent="0" marL="0">
                        <a:buNone/>
                      </a:pPr>
                      <a:r>
                        <a:rPr lang="en-US" sz="1500" dirty="0">
                          <a:solidFill>
                            <a:srgbClr val="1E2A20"/>
                          </a:solidFill>
                          <a:latin typeface="Calibri" pitchFamily="34" charset="0"/>
                          <a:ea typeface="Calibri" pitchFamily="34" charset="-122"/>
                          <a:cs typeface="Calibri" pitchFamily="34" charset="-120"/>
                        </a:rPr>
                        <a:t>Length only (baseline)</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-0.006</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-0.006</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-0.006</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438912">
                <a:tc>
                  <a:txBody>
                    <a:bodyPr/>
                    <a:lstStyle/>
                    <a:p>
                      <a:pPr algn="l" indent="0" marL="0">
                        <a:buNone/>
                      </a:pPr>
                      <a:r>
                        <a:rPr lang="en-US" sz="1500" dirty="0">
                          <a:solidFill>
                            <a:srgbClr val="1E2A20"/>
                          </a:solidFill>
                          <a:latin typeface="Calibri" pitchFamily="34" charset="0"/>
                          <a:ea typeface="Calibri" pitchFamily="34" charset="-122"/>
                          <a:cs typeface="Calibri" pitchFamily="34" charset="-120"/>
                        </a:rPr>
                        <a:t>GC content</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0.986</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0.950</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0.678</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438912">
                <a:tc>
                  <a:txBody>
                    <a:bodyPr/>
                    <a:lstStyle/>
                    <a:p>
                      <a:pPr algn="l" indent="0" marL="0">
                        <a:buNone/>
                      </a:pPr>
                      <a:r>
                        <a:rPr lang="en-US" sz="1500" dirty="0">
                          <a:solidFill>
                            <a:srgbClr val="1E2A20"/>
                          </a:solidFill>
                          <a:latin typeface="Calibri" pitchFamily="34" charset="0"/>
                          <a:ea typeface="Calibri" pitchFamily="34" charset="-122"/>
                          <a:cs typeface="Calibri" pitchFamily="34" charset="-120"/>
                        </a:rPr>
                        <a:t>GC3 (codon choice)</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0.969</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0.919</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0.380</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438912">
                <a:tc>
                  <a:txBody>
                    <a:bodyPr/>
                    <a:lstStyle/>
                    <a:p>
                      <a:pPr algn="l" indent="0" marL="0">
                        <a:buNone/>
                      </a:pPr>
                      <a:r>
                        <a:rPr lang="en-US" sz="1500" dirty="0">
                          <a:solidFill>
                            <a:srgbClr val="1E2A20"/>
                          </a:solidFill>
                          <a:latin typeface="Calibri" pitchFamily="34" charset="0"/>
                          <a:ea typeface="Calibri" pitchFamily="34" charset="-122"/>
                          <a:cs typeface="Calibri" pitchFamily="34" charset="-120"/>
                        </a:rPr>
                        <a:t>Nussinov pairing (n=200)</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0.089</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0.141</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500" dirty="0">
                          <a:solidFill>
                            <a:srgbClr val="1E2A20"/>
                          </a:solidFill>
                          <a:latin typeface="Calibri" pitchFamily="34" charset="0"/>
                          <a:ea typeface="Calibri" pitchFamily="34" charset="-122"/>
                          <a:cs typeface="Calibri" pitchFamily="34" charset="-120"/>
                        </a:rPr>
                        <a:t>0.093</a:t>
                      </a:r>
                      <a:endParaRPr lang="en-US" sz="15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bl>
          </a:graphicData>
        </a:graphic>
      </p:graphicFrame>
      <p:sp>
        <p:nvSpPr>
          <p:cNvPr id="5" name="Shape 2"/>
          <p:cNvSpPr/>
          <p:nvPr/>
        </p:nvSpPr>
        <p:spPr>
          <a:xfrm>
            <a:off x="7818120" y="1828800"/>
            <a:ext cx="3687775" cy="1463040"/>
          </a:xfrm>
          <a:prstGeom prst="roundRect">
            <a:avLst>
              <a:gd name="adj" fmla="val 7500"/>
            </a:avLst>
          </a:prstGeom>
          <a:solidFill>
            <a:srgbClr val="EEF3EA"/>
          </a:solidFill>
          <a:ln w="12700">
            <a:solidFill>
              <a:srgbClr val="EEF3EA"/>
            </a:solidFill>
            <a:prstDash val="solid"/>
          </a:ln>
        </p:spPr>
      </p:sp>
      <p:sp>
        <p:nvSpPr>
          <p:cNvPr id="6" name="Text 3"/>
          <p:cNvSpPr txBox="1"/>
          <p:nvPr/>
        </p:nvSpPr>
        <p:spPr>
          <a:xfrm>
            <a:off x="8092440" y="2011680"/>
            <a:ext cx="3139135" cy="548640"/>
          </a:xfrm>
          <a:prstGeom prst="rect">
            <a:avLst/>
          </a:prstGeom>
          <a:noFill/>
          <a:ln/>
        </p:spPr>
        <p:txBody>
          <a:bodyPr wrap="square" lIns="0" tIns="0" rIns="0" bIns="0" rtlCol="0" anchor="ctr"/>
          <a:lstStyle/>
          <a:p>
            <a:pPr indent="0" marL="0">
              <a:buNone/>
            </a:pPr>
            <a:r>
              <a:rPr lang="en-US" sz="2800" b="1" dirty="0">
                <a:solidFill>
                  <a:srgbClr val="1E3A23"/>
                </a:solidFill>
                <a:latin typeface="Cambria" pitchFamily="34" charset="0"/>
                <a:ea typeface="Cambria" pitchFamily="34" charset="-122"/>
                <a:cs typeface="Cambria" pitchFamily="34" charset="-120"/>
              </a:rPr>
              <a:t>0.103</a:t>
            </a:r>
            <a:endParaRPr lang="en-US" sz="2800" dirty="0"/>
          </a:p>
        </p:txBody>
      </p:sp>
      <p:sp>
        <p:nvSpPr>
          <p:cNvPr id="7" name="Text 4"/>
          <p:cNvSpPr txBox="1"/>
          <p:nvPr/>
        </p:nvSpPr>
        <p:spPr>
          <a:xfrm>
            <a:off x="8092440" y="2606040"/>
            <a:ext cx="3139135" cy="548640"/>
          </a:xfrm>
          <a:prstGeom prst="rect">
            <a:avLst/>
          </a:prstGeom>
          <a:noFill/>
          <a:ln/>
        </p:spPr>
        <p:txBody>
          <a:bodyPr wrap="square" lIns="0" tIns="0" rIns="0" bIns="0" rtlCol="0" anchor="t"/>
          <a:lstStyle/>
          <a:p>
            <a:pPr indent="0" marL="0">
              <a:buNone/>
            </a:pPr>
            <a:r>
              <a:rPr lang="en-US" sz="1400" dirty="0">
                <a:solidFill>
                  <a:srgbClr val="46524A"/>
                </a:solidFill>
                <a:latin typeface="Calibri" pitchFamily="34" charset="0"/>
                <a:ea typeface="Calibri" pitchFamily="34" charset="-122"/>
                <a:cs typeface="Calibri" pitchFamily="34" charset="-120"/>
              </a:rPr>
              <a:t>Best concatenation (RNA + protein) equals protein alone: no synergy.</a:t>
            </a:r>
            <a:endParaRPr lang="en-US" sz="1400" dirty="0"/>
          </a:p>
        </p:txBody>
      </p:sp>
      <p:sp>
        <p:nvSpPr>
          <p:cNvPr id="8" name="Shape 5"/>
          <p:cNvSpPr/>
          <p:nvPr/>
        </p:nvSpPr>
        <p:spPr>
          <a:xfrm>
            <a:off x="7818120" y="3520440"/>
            <a:ext cx="3687775" cy="1463040"/>
          </a:xfrm>
          <a:prstGeom prst="roundRect">
            <a:avLst>
              <a:gd name="adj" fmla="val 7500"/>
            </a:avLst>
          </a:prstGeom>
          <a:solidFill>
            <a:srgbClr val="EEF3EA"/>
          </a:solidFill>
          <a:ln w="12700">
            <a:solidFill>
              <a:srgbClr val="EEF3EA"/>
            </a:solidFill>
            <a:prstDash val="solid"/>
          </a:ln>
        </p:spPr>
      </p:sp>
      <p:sp>
        <p:nvSpPr>
          <p:cNvPr id="9" name="Text 6"/>
          <p:cNvSpPr txBox="1"/>
          <p:nvPr/>
        </p:nvSpPr>
        <p:spPr>
          <a:xfrm>
            <a:off x="8092440" y="3703320"/>
            <a:ext cx="3139135" cy="548640"/>
          </a:xfrm>
          <a:prstGeom prst="rect">
            <a:avLst/>
          </a:prstGeom>
          <a:noFill/>
          <a:ln/>
        </p:spPr>
        <p:txBody>
          <a:bodyPr wrap="square" lIns="0" tIns="0" rIns="0" bIns="0" rtlCol="0" anchor="ctr"/>
          <a:lstStyle/>
          <a:p>
            <a:pPr indent="0" marL="0">
              <a:buNone/>
            </a:pPr>
            <a:r>
              <a:rPr lang="en-US" sz="2800" b="1" dirty="0">
                <a:solidFill>
                  <a:srgbClr val="1E3A23"/>
                </a:solidFill>
                <a:latin typeface="Cambria" pitchFamily="34" charset="0"/>
                <a:ea typeface="Cambria" pitchFamily="34" charset="-122"/>
                <a:cs typeface="Cambria" pitchFamily="34" charset="-120"/>
              </a:rPr>
              <a:t>0.678 → 0.380</a:t>
            </a:r>
            <a:endParaRPr lang="en-US" sz="2800" dirty="0"/>
          </a:p>
        </p:txBody>
      </p:sp>
      <p:sp>
        <p:nvSpPr>
          <p:cNvPr id="10" name="Text 7"/>
          <p:cNvSpPr txBox="1"/>
          <p:nvPr/>
        </p:nvSpPr>
        <p:spPr>
          <a:xfrm>
            <a:off x="8092440" y="4297680"/>
            <a:ext cx="3139135" cy="548640"/>
          </a:xfrm>
          <a:prstGeom prst="rect">
            <a:avLst/>
          </a:prstGeom>
          <a:noFill/>
          <a:ln/>
        </p:spPr>
        <p:txBody>
          <a:bodyPr wrap="square" lIns="0" tIns="0" rIns="0" bIns="0" rtlCol="0" anchor="t"/>
          <a:lstStyle/>
          <a:p>
            <a:pPr indent="0" marL="0">
              <a:buNone/>
            </a:pPr>
            <a:r>
              <a:rPr lang="en-US" sz="1400" dirty="0">
                <a:solidFill>
                  <a:srgbClr val="46524A"/>
                </a:solidFill>
                <a:latin typeface="Calibri" pitchFamily="34" charset="0"/>
                <a:ea typeface="Calibri" pitchFamily="34" charset="-122"/>
                <a:cs typeface="Calibri" pitchFamily="34" charset="-120"/>
              </a:rPr>
              <a:t>Protein loses codon choice from GC to GC3; DNA and RNA keep it.</a:t>
            </a:r>
            <a:endParaRPr lang="en-US" sz="1400" dirty="0"/>
          </a:p>
        </p:txBody>
      </p:sp>
      <p:sp>
        <p:nvSpPr>
          <p:cNvPr id="11" name="Text 8"/>
          <p:cNvSpPr txBox="1"/>
          <p:nvPr/>
        </p:nvSpPr>
        <p:spPr>
          <a:xfrm>
            <a:off x="685800" y="6263640"/>
            <a:ext cx="10820095" cy="32004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RidgeCV probes, 5-fold GroupKFold by sequence. DNA and RNA stability means are smaller than their fold SDs (0.072, 0.065); protein is about 3 SDs above zero.</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502920"/>
            <a:ext cx="10820095"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TRACK B · CROSS-MODAL GEOMETRY</a:t>
            </a:r>
            <a:endParaRPr lang="en-US" sz="1300" dirty="0"/>
          </a:p>
        </p:txBody>
      </p:sp>
      <p:sp>
        <p:nvSpPr>
          <p:cNvPr id="3" name="Text 1"/>
          <p:cNvSpPr txBox="1"/>
          <p:nvPr/>
        </p:nvSpPr>
        <p:spPr>
          <a:xfrm>
            <a:off x="685800" y="822960"/>
            <a:ext cx="10820095" cy="731520"/>
          </a:xfrm>
          <a:prstGeom prst="rect">
            <a:avLst/>
          </a:prstGeom>
          <a:noFill/>
          <a:ln/>
        </p:spPr>
        <p:txBody>
          <a:bodyPr wrap="square" lIns="0" tIns="0" rIns="0" bIns="0" rtlCol="0" anchor="t"/>
          <a:lstStyle/>
          <a:p>
            <a:pPr indent="0" marL="0">
              <a:buNone/>
            </a:pPr>
            <a:r>
              <a:rPr lang="en-US" sz="3400" b="1" dirty="0">
                <a:solidFill>
                  <a:srgbClr val="1E2A20"/>
                </a:solidFill>
                <a:latin typeface="Cambria" pitchFamily="34" charset="0"/>
                <a:ea typeface="Cambria" pitchFamily="34" charset="-122"/>
                <a:cs typeface="Cambria" pitchFamily="34" charset="-120"/>
              </a:rPr>
              <a:t>DNA and RNA agree most; protein agrees less</a:t>
            </a:r>
            <a:endParaRPr lang="en-US" sz="3400" dirty="0"/>
          </a:p>
        </p:txBody>
      </p:sp>
      <p:pic>
        <p:nvPicPr>
          <p:cNvPr id="4" name="Image 0" descr="Layer-wise linear CKA heatmaps for DNA vs RNA, DNA vs protein, and RNA vs protein">    </p:cNvPr>
          <p:cNvPicPr>
            <a:picLocks noChangeAspect="1"/>
          </p:cNvPicPr>
          <p:nvPr/>
        </p:nvPicPr>
        <p:blipFill>
          <a:blip r:embed="rId1"/>
          <a:stretch>
            <a:fillRect/>
          </a:stretch>
        </p:blipFill>
        <p:spPr>
          <a:xfrm>
            <a:off x="685800" y="1783080"/>
            <a:ext cx="6766560" cy="2779032"/>
          </a:xfrm>
          <a:prstGeom prst="rect">
            <a:avLst/>
          </a:prstGeom>
        </p:spPr>
      </p:pic>
      <p:sp>
        <p:nvSpPr>
          <p:cNvPr id="5" name="Text 2"/>
          <p:cNvSpPr txBox="1"/>
          <p:nvPr/>
        </p:nvSpPr>
        <p:spPr>
          <a:xfrm>
            <a:off x="685800" y="4653552"/>
            <a:ext cx="6766560" cy="502920"/>
          </a:xfrm>
          <a:prstGeom prst="rect">
            <a:avLst/>
          </a:prstGeom>
          <a:noFill/>
          <a:ln/>
        </p:spPr>
        <p:txBody>
          <a:bodyPr wrap="square" lIns="0" tIns="0" rIns="0" bIns="0" rtlCol="0" anchor="t"/>
          <a:lstStyle/>
          <a:p>
            <a:pPr indent="0" marL="0">
              <a:buNone/>
            </a:pPr>
            <a:r>
              <a:rPr lang="en-US" sz="1300" dirty="0">
                <a:solidFill>
                  <a:srgbClr val="46524A"/>
                </a:solidFill>
                <a:latin typeface="Calibri" pitchFamily="34" charset="0"/>
                <a:ea typeface="Calibri" pitchFamily="34" charset="-122"/>
                <a:cs typeface="Calibri" pitchFamily="34" charset="-120"/>
              </a:rPr>
              <a:t>Layer-wise CKA (200 sequences). Protein agrees best at its embedding layer, before any context mixing.</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0" y="1783080"/>
          <a:ext cx="3733495" cy="914400"/>
        </p:xfrm>
        <a:graphic>
          <a:graphicData uri="http://schemas.openxmlformats.org/drawingml/2006/table">
            <a:tbl>
              <a:tblPr/>
              <a:tblGrid>
                <a:gridCol w="1005840"/>
                <a:gridCol w="914400"/>
                <a:gridCol w="859536"/>
                <a:gridCol w="859536"/>
              </a:tblGrid>
              <a:tr h="420624">
                <a:tc>
                  <a:txBody>
                    <a:bodyPr/>
                    <a:lstStyle/>
                    <a:p>
                      <a:pPr algn="l" indent="0" marL="0">
                        <a:buNone/>
                      </a:pPr>
                      <a:r>
                        <a:rPr lang="en-US" sz="1400" b="1" dirty="0">
                          <a:solidFill>
                            <a:srgbClr val="1E2A20"/>
                          </a:solidFill>
                          <a:latin typeface="Calibri" pitchFamily="34" charset="0"/>
                          <a:ea typeface="Calibri" pitchFamily="34" charset="-122"/>
                          <a:cs typeface="Calibri" pitchFamily="34" charset="-120"/>
                        </a:rPr>
                        <a:t>Metric</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400" b="1" dirty="0">
                          <a:solidFill>
                            <a:srgbClr val="1E2A20"/>
                          </a:solidFill>
                          <a:latin typeface="Calibri" pitchFamily="34" charset="0"/>
                          <a:ea typeface="Calibri" pitchFamily="34" charset="-122"/>
                          <a:cs typeface="Calibri" pitchFamily="34" charset="-120"/>
                        </a:rPr>
                        <a:t>DNA-RNA</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400" b="1" dirty="0">
                          <a:solidFill>
                            <a:srgbClr val="1E2A20"/>
                          </a:solidFill>
                          <a:latin typeface="Calibri" pitchFamily="34" charset="0"/>
                          <a:ea typeface="Calibri" pitchFamily="34" charset="-122"/>
                          <a:cs typeface="Calibri" pitchFamily="34" charset="-120"/>
                        </a:rPr>
                        <a:t>DNA-P</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c>
                  <a:txBody>
                    <a:bodyPr/>
                    <a:lstStyle/>
                    <a:p>
                      <a:pPr algn="r" indent="0" marL="0">
                        <a:buNone/>
                      </a:pPr>
                      <a:r>
                        <a:rPr lang="en-US" sz="1400" b="1" dirty="0">
                          <a:solidFill>
                            <a:srgbClr val="1E2A20"/>
                          </a:solidFill>
                          <a:latin typeface="Calibri" pitchFamily="34" charset="0"/>
                          <a:ea typeface="Calibri" pitchFamily="34" charset="-122"/>
                          <a:cs typeface="Calibri" pitchFamily="34" charset="-120"/>
                        </a:rPr>
                        <a:t>RNA-P</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solidFill>
                      <a:srgbClr val="EEF3EA"/>
                    </a:solidFill>
                  </a:tcPr>
                </a:tc>
              </a:tr>
              <a:tr h="420624">
                <a:tc>
                  <a:txBody>
                    <a:bodyPr/>
                    <a:lstStyle/>
                    <a:p>
                      <a:pPr algn="l" indent="0" marL="0">
                        <a:buNone/>
                      </a:pPr>
                      <a:r>
                        <a:rPr lang="en-US" sz="1400" dirty="0">
                          <a:solidFill>
                            <a:srgbClr val="1E2A20"/>
                          </a:solidFill>
                          <a:latin typeface="Calibri" pitchFamily="34" charset="0"/>
                          <a:ea typeface="Calibri" pitchFamily="34" charset="-122"/>
                          <a:cs typeface="Calibri" pitchFamily="34" charset="-120"/>
                        </a:rPr>
                        <a:t>CKA</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0.530</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0.128</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0.199</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420624">
                <a:tc>
                  <a:txBody>
                    <a:bodyPr/>
                    <a:lstStyle/>
                    <a:p>
                      <a:pPr algn="l" indent="0" marL="0">
                        <a:buNone/>
                      </a:pPr>
                      <a:r>
                        <a:rPr lang="en-US" sz="1400" dirty="0">
                          <a:solidFill>
                            <a:srgbClr val="1E2A20"/>
                          </a:solidFill>
                          <a:latin typeface="Calibri" pitchFamily="34" charset="0"/>
                          <a:ea typeface="Calibri" pitchFamily="34" charset="-122"/>
                          <a:cs typeface="Calibri" pitchFamily="34" charset="-120"/>
                        </a:rPr>
                        <a:t>k-NN</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0.118</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0.070</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0.060</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420624">
                <a:tc>
                  <a:txBody>
                    <a:bodyPr/>
                    <a:lstStyle/>
                    <a:p>
                      <a:pPr algn="l" indent="0" marL="0">
                        <a:buNone/>
                      </a:pPr>
                      <a:r>
                        <a:rPr lang="en-US" sz="1400" dirty="0">
                          <a:solidFill>
                            <a:srgbClr val="1E2A20"/>
                          </a:solidFill>
                          <a:latin typeface="Calibri" pitchFamily="34" charset="0"/>
                          <a:ea typeface="Calibri" pitchFamily="34" charset="-122"/>
                          <a:cs typeface="Calibri" pitchFamily="34" charset="-120"/>
                        </a:rPr>
                        <a:t>CCA r1</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0.972</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0.955</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0.908</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420624">
                <a:tc>
                  <a:txBody>
                    <a:bodyPr/>
                    <a:lstStyle/>
                    <a:p>
                      <a:pPr algn="l" indent="0" marL="0">
                        <a:buNone/>
                      </a:pPr>
                      <a:r>
                        <a:rPr lang="en-US" sz="1400" dirty="0">
                          <a:solidFill>
                            <a:srgbClr val="1E2A20"/>
                          </a:solidFill>
                          <a:latin typeface="Calibri" pitchFamily="34" charset="0"/>
                          <a:ea typeface="Calibri" pitchFamily="34" charset="-122"/>
                          <a:cs typeface="Calibri" pitchFamily="34" charset="-120"/>
                        </a:rPr>
                        <a:t>Recall@1</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54.9%</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36.6%</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22.4%</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r h="420624">
                <a:tc>
                  <a:txBody>
                    <a:bodyPr/>
                    <a:lstStyle/>
                    <a:p>
                      <a:pPr algn="l" indent="0" marL="0">
                        <a:buNone/>
                      </a:pPr>
                      <a:r>
                        <a:rPr lang="en-US" sz="1400" dirty="0">
                          <a:solidFill>
                            <a:srgbClr val="1E2A20"/>
                          </a:solidFill>
                          <a:latin typeface="Calibri" pitchFamily="34" charset="0"/>
                          <a:ea typeface="Calibri" pitchFamily="34" charset="-122"/>
                          <a:cs typeface="Calibri" pitchFamily="34" charset="-120"/>
                        </a:rPr>
                        <a:t>RSA</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0.548</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0.234</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c>
                  <a:txBody>
                    <a:bodyPr/>
                    <a:lstStyle/>
                    <a:p>
                      <a:pPr algn="r" indent="0" marL="0">
                        <a:buNone/>
                      </a:pPr>
                      <a:r>
                        <a:rPr lang="en-US" sz="1400" dirty="0">
                          <a:solidFill>
                            <a:srgbClr val="1E2A20"/>
                          </a:solidFill>
                          <a:latin typeface="Calibri" pitchFamily="34" charset="0"/>
                          <a:ea typeface="Calibri" pitchFamily="34" charset="-122"/>
                          <a:cs typeface="Calibri" pitchFamily="34" charset="-120"/>
                        </a:rPr>
                        <a:t>0.238</a:t>
                      </a:r>
                      <a:endParaRPr lang="en-US" sz="1400" dirty="0">
                        <a:latin typeface="Calibri" charset="0"/>
                        <a:ea typeface="Calibri" charset="0"/>
                        <a:cs typeface="Calibri" charset="0"/>
                      </a:endParaRPr>
                    </a:p>
                  </a:txBody>
                  <a:tcPr marL="54864" marR="54864" marT="54864" marB="54864">
                    <a:lnL w="9525" cap="flat" cmpd="sng" algn="ctr">
                      <a:solidFill>
                        <a:srgbClr val="D5DDD0"/>
                      </a:solidFill>
                      <a:prstDash val="solid"/>
                      <a:round/>
                      <a:headEnd type="none" w="med" len="med"/>
                      <a:tailEnd type="none" w="med" len="med"/>
                    </a:lnL>
                    <a:lnR w="9525" cap="flat" cmpd="sng" algn="ctr">
                      <a:solidFill>
                        <a:srgbClr val="D5DDD0"/>
                      </a:solidFill>
                      <a:prstDash val="solid"/>
                      <a:round/>
                      <a:headEnd type="none" w="med" len="med"/>
                      <a:tailEnd type="none" w="med" len="med"/>
                    </a:lnR>
                    <a:lnT w="9525" cap="flat" cmpd="sng" algn="ctr">
                      <a:solidFill>
                        <a:srgbClr val="D5DDD0"/>
                      </a:solidFill>
                      <a:prstDash val="solid"/>
                      <a:round/>
                      <a:headEnd type="none" w="med" len="med"/>
                      <a:tailEnd type="none" w="med" len="med"/>
                    </a:lnT>
                    <a:lnB w="9525" cap="flat" cmpd="sng" algn="ctr">
                      <a:solidFill>
                        <a:srgbClr val="D5DDD0"/>
                      </a:solidFill>
                      <a:prstDash val="solid"/>
                      <a:round/>
                      <a:headEnd type="none" w="med" len="med"/>
                      <a:tailEnd type="none" w="med" len="med"/>
                    </a:lnB>
                  </a:tcPr>
                </a:tc>
              </a:tr>
            </a:tbl>
          </a:graphicData>
        </a:graphic>
      </p:graphicFrame>
      <p:sp>
        <p:nvSpPr>
          <p:cNvPr id="7" name="Text 3"/>
          <p:cNvSpPr txBox="1"/>
          <p:nvPr/>
        </p:nvSpPr>
        <p:spPr>
          <a:xfrm>
            <a:off x="685800" y="6263640"/>
            <a:ext cx="10820095" cy="32004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P = protein. Chance: k-NN 0.010, Recall@1 0.34% (295 held-out rows). RSA Mantel p = 0.002 for every pair (499 permutations).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3A23"/>
        </a:solidFill>
      </p:bgPr>
    </p:bg>
    <p:spTree>
      <p:nvGrpSpPr>
        <p:cNvPr id="1" name=""/>
        <p:cNvGrpSpPr/>
        <p:nvPr/>
      </p:nvGrpSpPr>
      <p:grpSpPr>
        <a:xfrm>
          <a:off x="0" y="0"/>
          <a:ext cx="0" cy="0"/>
          <a:chOff x="0" y="0"/>
          <a:chExt cx="0" cy="0"/>
        </a:xfrm>
      </p:grpSpPr>
      <p:sp>
        <p:nvSpPr>
          <p:cNvPr id="2" name="Text 0"/>
          <p:cNvSpPr txBox="1"/>
          <p:nvPr/>
        </p:nvSpPr>
        <p:spPr>
          <a:xfrm>
            <a:off x="685800" y="502920"/>
            <a:ext cx="10820095" cy="320040"/>
          </a:xfrm>
          <a:prstGeom prst="rect">
            <a:avLst/>
          </a:prstGeom>
          <a:noFill/>
          <a:ln/>
        </p:spPr>
        <p:txBody>
          <a:bodyPr wrap="square" lIns="0" tIns="0" rIns="0" bIns="0" rtlCol="0" anchor="ctr"/>
          <a:lstStyle/>
          <a:p>
            <a:pPr indent="0" marL="0">
              <a:buNone/>
            </a:pPr>
            <a:r>
              <a:rPr lang="en-US" sz="1300" b="1" spc="300" kern="0" dirty="0">
                <a:solidFill>
                  <a:srgbClr val="A9CC8E"/>
                </a:solidFill>
                <a:latin typeface="Calibri" pitchFamily="34" charset="0"/>
                <a:ea typeface="Calibri" pitchFamily="34" charset="-122"/>
                <a:cs typeface="Calibri" pitchFamily="34" charset="-120"/>
              </a:rPr>
              <a:t>NEW THIS ROUND · COMPOSITION CONTROL</a:t>
            </a:r>
            <a:endParaRPr lang="en-US" sz="1300" dirty="0"/>
          </a:p>
        </p:txBody>
      </p:sp>
      <p:sp>
        <p:nvSpPr>
          <p:cNvPr id="3" name="Text 1"/>
          <p:cNvSpPr txBox="1"/>
          <p:nvPr/>
        </p:nvSpPr>
        <p:spPr>
          <a:xfrm>
            <a:off x="685800" y="822960"/>
            <a:ext cx="10820095" cy="731520"/>
          </a:xfrm>
          <a:prstGeom prst="rect">
            <a:avLst/>
          </a:prstGeom>
          <a:noFill/>
          <a:ln/>
        </p:spPr>
        <p:txBody>
          <a:bodyPr wrap="square" lIns="0" tIns="0" rIns="0" bIns="0" rtlCol="0" anchor="t"/>
          <a:lstStyle/>
          <a:p>
            <a:pPr indent="0" marL="0">
              <a:buNone/>
            </a:pPr>
            <a:r>
              <a:rPr lang="en-US" sz="3400" b="1" dirty="0">
                <a:solidFill>
                  <a:srgbClr val="F4F7F1"/>
                </a:solidFill>
                <a:latin typeface="Cambria" pitchFamily="34" charset="0"/>
                <a:ea typeface="Cambria" pitchFamily="34" charset="-122"/>
                <a:cs typeface="Cambria" pitchFamily="34" charset="-120"/>
              </a:rPr>
              <a:t>Most cross-modal agreement is composition</a:t>
            </a:r>
            <a:endParaRPr lang="en-US" sz="3400" dirty="0"/>
          </a:p>
        </p:txBody>
      </p:sp>
      <p:sp>
        <p:nvSpPr>
          <p:cNvPr id="4" name="Text 2"/>
          <p:cNvSpPr txBox="1"/>
          <p:nvPr/>
        </p:nvSpPr>
        <p:spPr>
          <a:xfrm>
            <a:off x="685800" y="1828800"/>
            <a:ext cx="4023360" cy="731520"/>
          </a:xfrm>
          <a:prstGeom prst="rect">
            <a:avLst/>
          </a:prstGeom>
          <a:noFill/>
          <a:ln/>
        </p:spPr>
        <p:txBody>
          <a:bodyPr wrap="square" lIns="0" tIns="0" rIns="0" bIns="0" rtlCol="0" anchor="t"/>
          <a:lstStyle/>
          <a:p>
            <a:pPr indent="0" marL="0">
              <a:buNone/>
            </a:pPr>
            <a:r>
              <a:rPr lang="en-US" sz="1500" dirty="0">
                <a:solidFill>
                  <a:srgbClr val="C9DBC0"/>
                </a:solidFill>
                <a:latin typeface="Calibri" pitchFamily="34" charset="0"/>
                <a:ea typeface="Calibri" pitchFamily="34" charset="-122"/>
                <a:cs typeface="Calibri" pitchFamily="34" charset="-120"/>
              </a:rPr>
              <a:t>Share of each embedding explained by GC, GC3, length, 64 codon and 20 amino-acid frequencies:</a:t>
            </a:r>
            <a:endParaRPr lang="en-US" sz="1500" dirty="0"/>
          </a:p>
        </p:txBody>
      </p:sp>
      <p:sp>
        <p:nvSpPr>
          <p:cNvPr id="5" name="Shape 3"/>
          <p:cNvSpPr/>
          <p:nvPr/>
        </p:nvSpPr>
        <p:spPr>
          <a:xfrm>
            <a:off x="685800" y="2697480"/>
            <a:ext cx="1234440" cy="1143000"/>
          </a:xfrm>
          <a:prstGeom prst="roundRect">
            <a:avLst>
              <a:gd name="adj" fmla="val 9600"/>
            </a:avLst>
          </a:prstGeom>
          <a:solidFill>
            <a:srgbClr val="2C4F31"/>
          </a:solidFill>
          <a:ln w="12700">
            <a:solidFill>
              <a:srgbClr val="2C4F31"/>
            </a:solidFill>
            <a:prstDash val="solid"/>
          </a:ln>
        </p:spPr>
      </p:sp>
      <p:sp>
        <p:nvSpPr>
          <p:cNvPr id="6" name="Text 4"/>
          <p:cNvSpPr txBox="1"/>
          <p:nvPr/>
        </p:nvSpPr>
        <p:spPr>
          <a:xfrm>
            <a:off x="685800" y="2834640"/>
            <a:ext cx="1234440" cy="548640"/>
          </a:xfrm>
          <a:prstGeom prst="rect">
            <a:avLst/>
          </a:prstGeom>
          <a:noFill/>
          <a:ln/>
        </p:spPr>
        <p:txBody>
          <a:bodyPr wrap="square" lIns="0" tIns="0" rIns="0" bIns="0" rtlCol="0" anchor="ctr"/>
          <a:lstStyle/>
          <a:p>
            <a:pPr algn="ctr" indent="0" marL="0">
              <a:buNone/>
            </a:pPr>
            <a:r>
              <a:rPr lang="en-US" sz="2800" b="1" dirty="0">
                <a:solidFill>
                  <a:srgbClr val="F4F7F1"/>
                </a:solidFill>
                <a:latin typeface="Cambria" pitchFamily="34" charset="0"/>
                <a:ea typeface="Cambria" pitchFamily="34" charset="-122"/>
                <a:cs typeface="Cambria" pitchFamily="34" charset="-120"/>
              </a:rPr>
              <a:t>62%</a:t>
            </a:r>
            <a:endParaRPr lang="en-US" sz="2800" dirty="0"/>
          </a:p>
        </p:txBody>
      </p:sp>
      <p:sp>
        <p:nvSpPr>
          <p:cNvPr id="7" name="Text 5"/>
          <p:cNvSpPr txBox="1"/>
          <p:nvPr/>
        </p:nvSpPr>
        <p:spPr>
          <a:xfrm>
            <a:off x="685800" y="3410712"/>
            <a:ext cx="1234440" cy="320040"/>
          </a:xfrm>
          <a:prstGeom prst="rect">
            <a:avLst/>
          </a:prstGeom>
          <a:noFill/>
          <a:ln/>
        </p:spPr>
        <p:txBody>
          <a:bodyPr wrap="square" lIns="0" tIns="0" rIns="0" bIns="0" rtlCol="0" anchor="ctr"/>
          <a:lstStyle/>
          <a:p>
            <a:pPr algn="ctr" indent="0" marL="0">
              <a:buNone/>
            </a:pPr>
            <a:r>
              <a:rPr lang="en-US" sz="1300" dirty="0">
                <a:solidFill>
                  <a:srgbClr val="C9DBC0"/>
                </a:solidFill>
                <a:latin typeface="Calibri" pitchFamily="34" charset="0"/>
                <a:ea typeface="Calibri" pitchFamily="34" charset="-122"/>
                <a:cs typeface="Calibri" pitchFamily="34" charset="-120"/>
              </a:rPr>
              <a:t>DNA</a:t>
            </a:r>
            <a:endParaRPr lang="en-US" sz="1300" dirty="0"/>
          </a:p>
        </p:txBody>
      </p:sp>
      <p:sp>
        <p:nvSpPr>
          <p:cNvPr id="8" name="Shape 6"/>
          <p:cNvSpPr/>
          <p:nvPr/>
        </p:nvSpPr>
        <p:spPr>
          <a:xfrm>
            <a:off x="2057400" y="2697480"/>
            <a:ext cx="1234440" cy="1143000"/>
          </a:xfrm>
          <a:prstGeom prst="roundRect">
            <a:avLst>
              <a:gd name="adj" fmla="val 9600"/>
            </a:avLst>
          </a:prstGeom>
          <a:solidFill>
            <a:srgbClr val="2C4F31"/>
          </a:solidFill>
          <a:ln w="12700">
            <a:solidFill>
              <a:srgbClr val="2C4F31"/>
            </a:solidFill>
            <a:prstDash val="solid"/>
          </a:ln>
        </p:spPr>
      </p:sp>
      <p:sp>
        <p:nvSpPr>
          <p:cNvPr id="9" name="Text 7"/>
          <p:cNvSpPr txBox="1"/>
          <p:nvPr/>
        </p:nvSpPr>
        <p:spPr>
          <a:xfrm>
            <a:off x="2057400" y="2834640"/>
            <a:ext cx="1234440" cy="548640"/>
          </a:xfrm>
          <a:prstGeom prst="rect">
            <a:avLst/>
          </a:prstGeom>
          <a:noFill/>
          <a:ln/>
        </p:spPr>
        <p:txBody>
          <a:bodyPr wrap="square" lIns="0" tIns="0" rIns="0" bIns="0" rtlCol="0" anchor="ctr"/>
          <a:lstStyle/>
          <a:p>
            <a:pPr algn="ctr" indent="0" marL="0">
              <a:buNone/>
            </a:pPr>
            <a:r>
              <a:rPr lang="en-US" sz="2800" b="1" dirty="0">
                <a:solidFill>
                  <a:srgbClr val="F4F7F1"/>
                </a:solidFill>
                <a:latin typeface="Cambria" pitchFamily="34" charset="0"/>
                <a:ea typeface="Cambria" pitchFamily="34" charset="-122"/>
                <a:cs typeface="Cambria" pitchFamily="34" charset="-120"/>
              </a:rPr>
              <a:t>68%</a:t>
            </a:r>
            <a:endParaRPr lang="en-US" sz="2800" dirty="0"/>
          </a:p>
        </p:txBody>
      </p:sp>
      <p:sp>
        <p:nvSpPr>
          <p:cNvPr id="10" name="Text 8"/>
          <p:cNvSpPr txBox="1"/>
          <p:nvPr/>
        </p:nvSpPr>
        <p:spPr>
          <a:xfrm>
            <a:off x="2057400" y="3410712"/>
            <a:ext cx="1234440" cy="320040"/>
          </a:xfrm>
          <a:prstGeom prst="rect">
            <a:avLst/>
          </a:prstGeom>
          <a:noFill/>
          <a:ln/>
        </p:spPr>
        <p:txBody>
          <a:bodyPr wrap="square" lIns="0" tIns="0" rIns="0" bIns="0" rtlCol="0" anchor="ctr"/>
          <a:lstStyle/>
          <a:p>
            <a:pPr algn="ctr" indent="0" marL="0">
              <a:buNone/>
            </a:pPr>
            <a:r>
              <a:rPr lang="en-US" sz="1300" dirty="0">
                <a:solidFill>
                  <a:srgbClr val="C9DBC0"/>
                </a:solidFill>
                <a:latin typeface="Calibri" pitchFamily="34" charset="0"/>
                <a:ea typeface="Calibri" pitchFamily="34" charset="-122"/>
                <a:cs typeface="Calibri" pitchFamily="34" charset="-120"/>
              </a:rPr>
              <a:t>RNA</a:t>
            </a:r>
            <a:endParaRPr lang="en-US" sz="1300" dirty="0"/>
          </a:p>
        </p:txBody>
      </p:sp>
      <p:sp>
        <p:nvSpPr>
          <p:cNvPr id="11" name="Shape 9"/>
          <p:cNvSpPr/>
          <p:nvPr/>
        </p:nvSpPr>
        <p:spPr>
          <a:xfrm>
            <a:off x="3429000" y="2697480"/>
            <a:ext cx="1234440" cy="1143000"/>
          </a:xfrm>
          <a:prstGeom prst="roundRect">
            <a:avLst>
              <a:gd name="adj" fmla="val 9600"/>
            </a:avLst>
          </a:prstGeom>
          <a:solidFill>
            <a:srgbClr val="2C4F31"/>
          </a:solidFill>
          <a:ln w="12700">
            <a:solidFill>
              <a:srgbClr val="2C4F31"/>
            </a:solidFill>
            <a:prstDash val="solid"/>
          </a:ln>
        </p:spPr>
      </p:sp>
      <p:sp>
        <p:nvSpPr>
          <p:cNvPr id="12" name="Text 10"/>
          <p:cNvSpPr txBox="1"/>
          <p:nvPr/>
        </p:nvSpPr>
        <p:spPr>
          <a:xfrm>
            <a:off x="3429000" y="2834640"/>
            <a:ext cx="1234440" cy="548640"/>
          </a:xfrm>
          <a:prstGeom prst="rect">
            <a:avLst/>
          </a:prstGeom>
          <a:noFill/>
          <a:ln/>
        </p:spPr>
        <p:txBody>
          <a:bodyPr wrap="square" lIns="0" tIns="0" rIns="0" bIns="0" rtlCol="0" anchor="ctr"/>
          <a:lstStyle/>
          <a:p>
            <a:pPr algn="ctr" indent="0" marL="0">
              <a:buNone/>
            </a:pPr>
            <a:r>
              <a:rPr lang="en-US" sz="2800" b="1" dirty="0">
                <a:solidFill>
                  <a:srgbClr val="F4F7F1"/>
                </a:solidFill>
                <a:latin typeface="Cambria" pitchFamily="34" charset="0"/>
                <a:ea typeface="Cambria" pitchFamily="34" charset="-122"/>
                <a:cs typeface="Cambria" pitchFamily="34" charset="-120"/>
              </a:rPr>
              <a:t>45%</a:t>
            </a:r>
            <a:endParaRPr lang="en-US" sz="2800" dirty="0"/>
          </a:p>
        </p:txBody>
      </p:sp>
      <p:sp>
        <p:nvSpPr>
          <p:cNvPr id="13" name="Text 11"/>
          <p:cNvSpPr txBox="1"/>
          <p:nvPr/>
        </p:nvSpPr>
        <p:spPr>
          <a:xfrm>
            <a:off x="3429000" y="3410712"/>
            <a:ext cx="1234440" cy="320040"/>
          </a:xfrm>
          <a:prstGeom prst="rect">
            <a:avLst/>
          </a:prstGeom>
          <a:noFill/>
          <a:ln/>
        </p:spPr>
        <p:txBody>
          <a:bodyPr wrap="square" lIns="0" tIns="0" rIns="0" bIns="0" rtlCol="0" anchor="ctr"/>
          <a:lstStyle/>
          <a:p>
            <a:pPr algn="ctr" indent="0" marL="0">
              <a:buNone/>
            </a:pPr>
            <a:r>
              <a:rPr lang="en-US" sz="1300" dirty="0">
                <a:solidFill>
                  <a:srgbClr val="C9DBC0"/>
                </a:solidFill>
                <a:latin typeface="Calibri" pitchFamily="34" charset="0"/>
                <a:ea typeface="Calibri" pitchFamily="34" charset="-122"/>
                <a:cs typeface="Calibri" pitchFamily="34" charset="-120"/>
              </a:rPr>
              <a:t>Protein</a:t>
            </a:r>
            <a:endParaRPr lang="en-US" sz="1300" dirty="0"/>
          </a:p>
        </p:txBody>
      </p:sp>
      <p:sp>
        <p:nvSpPr>
          <p:cNvPr id="14" name="Text 12"/>
          <p:cNvSpPr txBox="1"/>
          <p:nvPr/>
        </p:nvSpPr>
        <p:spPr>
          <a:xfrm>
            <a:off x="685800" y="3977640"/>
            <a:ext cx="4023360" cy="320040"/>
          </a:xfrm>
          <a:prstGeom prst="rect">
            <a:avLst/>
          </a:prstGeom>
          <a:noFill/>
          <a:ln/>
        </p:spPr>
        <p:txBody>
          <a:bodyPr wrap="square" lIns="0" tIns="0" rIns="0" bIns="0" rtlCol="0" anchor="ctr"/>
          <a:lstStyle/>
          <a:p>
            <a:pPr indent="0" marL="0">
              <a:buNone/>
            </a:pPr>
            <a:r>
              <a:rPr lang="en-US" sz="1300" dirty="0">
                <a:solidFill>
                  <a:srgbClr val="A9C2A0"/>
                </a:solidFill>
                <a:latin typeface="Calibri" pitchFamily="34" charset="0"/>
                <a:ea typeface="Calibri" pitchFamily="34" charset="-122"/>
                <a:cs typeface="Calibri" pitchFamily="34" charset="-120"/>
              </a:rPr>
              <a:t>Chance with 88 predictors: about 9%.</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166360" y="1828800"/>
          <a:ext cx="6339535" cy="914400"/>
        </p:xfrm>
        <a:graphic>
          <a:graphicData uri="http://schemas.openxmlformats.org/drawingml/2006/table">
            <a:tbl>
              <a:tblPr/>
              <a:tblGrid>
                <a:gridCol w="1645920"/>
                <a:gridCol w="2194560"/>
                <a:gridCol w="2496312"/>
              </a:tblGrid>
              <a:tr h="502920">
                <a:tc>
                  <a:txBody>
                    <a:bodyPr/>
                    <a:lstStyle/>
                    <a:p>
                      <a:pPr algn="l" indent="0" marL="0">
                        <a:buNone/>
                      </a:pPr>
                      <a:r>
                        <a:rPr lang="en-US" sz="1500" b="1" dirty="0">
                          <a:solidFill>
                            <a:srgbClr val="F4F7F1"/>
                          </a:solidFill>
                          <a:latin typeface="Calibri" pitchFamily="34" charset="0"/>
                          <a:ea typeface="Calibri" pitchFamily="34" charset="-122"/>
                          <a:cs typeface="Calibri" pitchFamily="34" charset="-120"/>
                        </a:rPr>
                        <a:t>Pair</a:t>
                      </a:r>
                      <a:endParaRPr lang="en-US" sz="1500" dirty="0">
                        <a:latin typeface="Calibri" charset="0"/>
                        <a:ea typeface="Calibri" charset="0"/>
                        <a:cs typeface="Calibri" charset="0"/>
                      </a:endParaRPr>
                    </a:p>
                  </a:txBody>
                  <a:tcPr marL="54864" marR="54864" marT="54864" marB="54864">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solidFill>
                      <a:srgbClr val="2C4F31"/>
                    </a:solidFill>
                  </a:tcPr>
                </a:tc>
                <a:tc>
                  <a:txBody>
                    <a:bodyPr/>
                    <a:lstStyle/>
                    <a:p>
                      <a:pPr algn="r" indent="0" marL="0">
                        <a:buNone/>
                      </a:pPr>
                      <a:r>
                        <a:rPr lang="en-US" sz="1500" b="1" dirty="0">
                          <a:solidFill>
                            <a:srgbClr val="F4F7F1"/>
                          </a:solidFill>
                          <a:latin typeface="Calibri" pitchFamily="34" charset="0"/>
                          <a:ea typeface="Calibri" pitchFamily="34" charset="-122"/>
                          <a:cs typeface="Calibri" pitchFamily="34" charset="-120"/>
                        </a:rPr>
                        <a:t>CKA before → after</a:t>
                      </a:r>
                      <a:endParaRPr lang="en-US" sz="1500" dirty="0">
                        <a:latin typeface="Calibri" charset="0"/>
                        <a:ea typeface="Calibri" charset="0"/>
                        <a:cs typeface="Calibri" charset="0"/>
                      </a:endParaRPr>
                    </a:p>
                  </a:txBody>
                  <a:tcPr marL="54864" marR="54864" marT="54864" marB="54864">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solidFill>
                      <a:srgbClr val="2C4F31"/>
                    </a:solidFill>
                  </a:tcPr>
                </a:tc>
                <a:tc>
                  <a:txBody>
                    <a:bodyPr/>
                    <a:lstStyle/>
                    <a:p>
                      <a:pPr algn="r" indent="0" marL="0">
                        <a:buNone/>
                      </a:pPr>
                      <a:r>
                        <a:rPr lang="en-US" sz="1500" b="1" dirty="0">
                          <a:solidFill>
                            <a:srgbClr val="F4F7F1"/>
                          </a:solidFill>
                          <a:latin typeface="Calibri" pitchFamily="34" charset="0"/>
                          <a:ea typeface="Calibri" pitchFamily="34" charset="-122"/>
                          <a:cs typeface="Calibri" pitchFamily="34" charset="-120"/>
                        </a:rPr>
                        <a:t>Recall@1 before → after</a:t>
                      </a:r>
                      <a:endParaRPr lang="en-US" sz="1500" dirty="0">
                        <a:latin typeface="Calibri" charset="0"/>
                        <a:ea typeface="Calibri" charset="0"/>
                        <a:cs typeface="Calibri" charset="0"/>
                      </a:endParaRPr>
                    </a:p>
                  </a:txBody>
                  <a:tcPr marL="54864" marR="54864" marT="54864" marB="54864">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solidFill>
                      <a:srgbClr val="2C4F31"/>
                    </a:solidFill>
                  </a:tcPr>
                </a:tc>
              </a:tr>
              <a:tr h="502920">
                <a:tc>
                  <a:txBody>
                    <a:bodyPr/>
                    <a:lstStyle/>
                    <a:p>
                      <a:pPr algn="l" indent="0" marL="0">
                        <a:buNone/>
                      </a:pPr>
                      <a:r>
                        <a:rPr lang="en-US" sz="1500" dirty="0">
                          <a:solidFill>
                            <a:srgbClr val="F4F7F1"/>
                          </a:solidFill>
                          <a:latin typeface="Calibri" pitchFamily="34" charset="0"/>
                          <a:ea typeface="Calibri" pitchFamily="34" charset="-122"/>
                          <a:cs typeface="Calibri" pitchFamily="34" charset="-120"/>
                        </a:rPr>
                        <a:t>DNA-RNA</a:t>
                      </a:r>
                      <a:endParaRPr lang="en-US" sz="1500" dirty="0">
                        <a:latin typeface="Calibri" charset="0"/>
                        <a:ea typeface="Calibri" charset="0"/>
                        <a:cs typeface="Calibri" charset="0"/>
                      </a:endParaRPr>
                    </a:p>
                  </a:txBody>
                  <a:tcPr marL="54864" marR="54864" marT="54864" marB="54864">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500" dirty="0">
                          <a:solidFill>
                            <a:srgbClr val="F4F7F1"/>
                          </a:solidFill>
                          <a:latin typeface="Calibri" pitchFamily="34" charset="0"/>
                          <a:ea typeface="Calibri" pitchFamily="34" charset="-122"/>
                          <a:cs typeface="Calibri" pitchFamily="34" charset="-120"/>
                        </a:rPr>
                        <a:t>0.530 → 0.101</a:t>
                      </a:r>
                      <a:endParaRPr lang="en-US" sz="1500" dirty="0">
                        <a:latin typeface="Calibri" charset="0"/>
                        <a:ea typeface="Calibri" charset="0"/>
                        <a:cs typeface="Calibri" charset="0"/>
                      </a:endParaRPr>
                    </a:p>
                  </a:txBody>
                  <a:tcPr marL="54864" marR="54864" marT="54864" marB="54864">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500" dirty="0">
                          <a:solidFill>
                            <a:srgbClr val="F4F7F1"/>
                          </a:solidFill>
                          <a:latin typeface="Calibri" pitchFamily="34" charset="0"/>
                          <a:ea typeface="Calibri" pitchFamily="34" charset="-122"/>
                          <a:cs typeface="Calibri" pitchFamily="34" charset="-120"/>
                        </a:rPr>
                        <a:t>54.9% → 11.2%</a:t>
                      </a:r>
                      <a:endParaRPr lang="en-US" sz="1500" dirty="0">
                        <a:latin typeface="Calibri" charset="0"/>
                        <a:ea typeface="Calibri" charset="0"/>
                        <a:cs typeface="Calibri" charset="0"/>
                      </a:endParaRPr>
                    </a:p>
                  </a:txBody>
                  <a:tcPr marL="54864" marR="54864" marT="54864" marB="54864">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r>
              <a:tr h="502920">
                <a:tc>
                  <a:txBody>
                    <a:bodyPr/>
                    <a:lstStyle/>
                    <a:p>
                      <a:pPr algn="l" indent="0" marL="0">
                        <a:buNone/>
                      </a:pPr>
                      <a:r>
                        <a:rPr lang="en-US" sz="1500" dirty="0">
                          <a:solidFill>
                            <a:srgbClr val="F4F7F1"/>
                          </a:solidFill>
                          <a:latin typeface="Calibri" pitchFamily="34" charset="0"/>
                          <a:ea typeface="Calibri" pitchFamily="34" charset="-122"/>
                          <a:cs typeface="Calibri" pitchFamily="34" charset="-120"/>
                        </a:rPr>
                        <a:t>DNA-protein</a:t>
                      </a:r>
                      <a:endParaRPr lang="en-US" sz="1500" dirty="0">
                        <a:latin typeface="Calibri" charset="0"/>
                        <a:ea typeface="Calibri" charset="0"/>
                        <a:cs typeface="Calibri" charset="0"/>
                      </a:endParaRPr>
                    </a:p>
                  </a:txBody>
                  <a:tcPr marL="54864" marR="54864" marT="54864" marB="54864">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500" dirty="0">
                          <a:solidFill>
                            <a:srgbClr val="F4F7F1"/>
                          </a:solidFill>
                          <a:latin typeface="Calibri" pitchFamily="34" charset="0"/>
                          <a:ea typeface="Calibri" pitchFamily="34" charset="-122"/>
                          <a:cs typeface="Calibri" pitchFamily="34" charset="-120"/>
                        </a:rPr>
                        <a:t>0.128 → 0.027</a:t>
                      </a:r>
                      <a:endParaRPr lang="en-US" sz="1500" dirty="0">
                        <a:latin typeface="Calibri" charset="0"/>
                        <a:ea typeface="Calibri" charset="0"/>
                        <a:cs typeface="Calibri" charset="0"/>
                      </a:endParaRPr>
                    </a:p>
                  </a:txBody>
                  <a:tcPr marL="54864" marR="54864" marT="54864" marB="54864">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500" dirty="0">
                          <a:solidFill>
                            <a:srgbClr val="F4F7F1"/>
                          </a:solidFill>
                          <a:latin typeface="Calibri" pitchFamily="34" charset="0"/>
                          <a:ea typeface="Calibri" pitchFamily="34" charset="-122"/>
                          <a:cs typeface="Calibri" pitchFamily="34" charset="-120"/>
                        </a:rPr>
                        <a:t>36.6% → 2.4%</a:t>
                      </a:r>
                      <a:endParaRPr lang="en-US" sz="1500" dirty="0">
                        <a:latin typeface="Calibri" charset="0"/>
                        <a:ea typeface="Calibri" charset="0"/>
                        <a:cs typeface="Calibri" charset="0"/>
                      </a:endParaRPr>
                    </a:p>
                  </a:txBody>
                  <a:tcPr marL="54864" marR="54864" marT="54864" marB="54864">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r>
              <a:tr h="502920">
                <a:tc>
                  <a:txBody>
                    <a:bodyPr/>
                    <a:lstStyle/>
                    <a:p>
                      <a:pPr algn="l" indent="0" marL="0">
                        <a:buNone/>
                      </a:pPr>
                      <a:r>
                        <a:rPr lang="en-US" sz="1500" dirty="0">
                          <a:solidFill>
                            <a:srgbClr val="F4F7F1"/>
                          </a:solidFill>
                          <a:latin typeface="Calibri" pitchFamily="34" charset="0"/>
                          <a:ea typeface="Calibri" pitchFamily="34" charset="-122"/>
                          <a:cs typeface="Calibri" pitchFamily="34" charset="-120"/>
                        </a:rPr>
                        <a:t>RNA-protein</a:t>
                      </a:r>
                      <a:endParaRPr lang="en-US" sz="1500" dirty="0">
                        <a:latin typeface="Calibri" charset="0"/>
                        <a:ea typeface="Calibri" charset="0"/>
                        <a:cs typeface="Calibri" charset="0"/>
                      </a:endParaRPr>
                    </a:p>
                  </a:txBody>
                  <a:tcPr marL="54864" marR="54864" marT="54864" marB="54864">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500" dirty="0">
                          <a:solidFill>
                            <a:srgbClr val="F4F7F1"/>
                          </a:solidFill>
                          <a:latin typeface="Calibri" pitchFamily="34" charset="0"/>
                          <a:ea typeface="Calibri" pitchFamily="34" charset="-122"/>
                          <a:cs typeface="Calibri" pitchFamily="34" charset="-120"/>
                        </a:rPr>
                        <a:t>0.199 → 0.055</a:t>
                      </a:r>
                      <a:endParaRPr lang="en-US" sz="1500" dirty="0">
                        <a:latin typeface="Calibri" charset="0"/>
                        <a:ea typeface="Calibri" charset="0"/>
                        <a:cs typeface="Calibri" charset="0"/>
                      </a:endParaRPr>
                    </a:p>
                  </a:txBody>
                  <a:tcPr marL="54864" marR="54864" marT="54864" marB="54864">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c>
                  <a:txBody>
                    <a:bodyPr/>
                    <a:lstStyle/>
                    <a:p>
                      <a:pPr algn="r" indent="0" marL="0">
                        <a:buNone/>
                      </a:pPr>
                      <a:r>
                        <a:rPr lang="en-US" sz="1500" dirty="0">
                          <a:solidFill>
                            <a:srgbClr val="F4F7F1"/>
                          </a:solidFill>
                          <a:latin typeface="Calibri" pitchFamily="34" charset="0"/>
                          <a:ea typeface="Calibri" pitchFamily="34" charset="-122"/>
                          <a:cs typeface="Calibri" pitchFamily="34" charset="-120"/>
                        </a:rPr>
                        <a:t>22.4% → 5.4%</a:t>
                      </a:r>
                      <a:endParaRPr lang="en-US" sz="1500" dirty="0">
                        <a:latin typeface="Calibri" charset="0"/>
                        <a:ea typeface="Calibri" charset="0"/>
                        <a:cs typeface="Calibri" charset="0"/>
                      </a:endParaRPr>
                    </a:p>
                  </a:txBody>
                  <a:tcPr marL="54864" marR="54864" marT="54864" marB="54864">
                    <a:lnL w="9525" cap="flat" cmpd="sng" algn="ctr">
                      <a:solidFill>
                        <a:srgbClr val="4A6B4F"/>
                      </a:solidFill>
                      <a:prstDash val="solid"/>
                      <a:round/>
                      <a:headEnd type="none" w="med" len="med"/>
                      <a:tailEnd type="none" w="med" len="med"/>
                    </a:lnL>
                    <a:lnR w="9525" cap="flat" cmpd="sng" algn="ctr">
                      <a:solidFill>
                        <a:srgbClr val="4A6B4F"/>
                      </a:solidFill>
                      <a:prstDash val="solid"/>
                      <a:round/>
                      <a:headEnd type="none" w="med" len="med"/>
                      <a:tailEnd type="none" w="med" len="med"/>
                    </a:lnR>
                    <a:lnT w="9525" cap="flat" cmpd="sng" algn="ctr">
                      <a:solidFill>
                        <a:srgbClr val="4A6B4F"/>
                      </a:solidFill>
                      <a:prstDash val="solid"/>
                      <a:round/>
                      <a:headEnd type="none" w="med" len="med"/>
                      <a:tailEnd type="none" w="med" len="med"/>
                    </a:lnT>
                    <a:lnB w="9525" cap="flat" cmpd="sng" algn="ctr">
                      <a:solidFill>
                        <a:srgbClr val="4A6B4F"/>
                      </a:solidFill>
                      <a:prstDash val="solid"/>
                      <a:round/>
                      <a:headEnd type="none" w="med" len="med"/>
                      <a:tailEnd type="none" w="med" len="med"/>
                    </a:lnB>
                  </a:tcPr>
                </a:tc>
              </a:tr>
            </a:tbl>
          </a:graphicData>
        </a:graphic>
      </p:graphicFrame>
      <p:sp>
        <p:nvSpPr>
          <p:cNvPr id="16" name="Text 13"/>
          <p:cNvSpPr txBox="1"/>
          <p:nvPr/>
        </p:nvSpPr>
        <p:spPr>
          <a:xfrm>
            <a:off x="685800" y="4663440"/>
            <a:ext cx="10820095" cy="822960"/>
          </a:xfrm>
          <a:prstGeom prst="rect">
            <a:avLst/>
          </a:prstGeom>
          <a:noFill/>
          <a:ln/>
        </p:spPr>
        <p:txBody>
          <a:bodyPr wrap="square" lIns="0" tIns="0" rIns="0" bIns="0" rtlCol="0" anchor="t"/>
          <a:lstStyle/>
          <a:p>
            <a:pPr indent="0" marL="0">
              <a:buNone/>
            </a:pPr>
            <a:r>
              <a:rPr lang="en-US" sz="1700" dirty="0">
                <a:solidFill>
                  <a:srgbClr val="F4F7F1"/>
                </a:solidFill>
                <a:latin typeface="Calibri" pitchFamily="34" charset="0"/>
                <a:ea typeface="Calibri" pitchFamily="34" charset="-122"/>
                <a:cs typeface="Calibri" pitchFamily="34" charset="-120"/>
              </a:rPr>
              <a:t>Removing composition cuts CKA by 72% to 81%. What survives, still 7 to 33 times chance, is the only part that could be shared biology beyond counts.</a:t>
            </a:r>
            <a:endParaRPr lang="en-US" sz="1700" dirty="0"/>
          </a:p>
        </p:txBody>
      </p:sp>
      <p:sp>
        <p:nvSpPr>
          <p:cNvPr id="17" name="Text 14"/>
          <p:cNvSpPr txBox="1"/>
          <p:nvPr/>
        </p:nvSpPr>
        <p:spPr>
          <a:xfrm>
            <a:off x="685800" y="6263640"/>
            <a:ext cx="10820095" cy="320040"/>
          </a:xfrm>
          <a:prstGeom prst="rect">
            <a:avLst/>
          </a:prstGeom>
          <a:noFill/>
          <a:ln/>
        </p:spPr>
        <p:txBody>
          <a:bodyPr wrap="square" lIns="0" tIns="0" rIns="0" bIns="0" rtlCol="0" anchor="ctr"/>
          <a:lstStyle/>
          <a:p>
            <a:pPr indent="0" marL="0">
              <a:buNone/>
            </a:pPr>
            <a:r>
              <a:rPr lang="en-US" sz="1100" dirty="0">
                <a:solidFill>
                  <a:srgbClr val="A9C2A0"/>
                </a:solidFill>
                <a:latin typeface="Calibri" pitchFamily="34" charset="0"/>
                <a:ea typeface="Calibri" pitchFamily="34" charset="-122"/>
                <a:cs typeface="Calibri" pitchFamily="34" charset="-120"/>
              </a:rPr>
              <a:t>OLS residualization on 87 standardized composition features, all 981 rows; same PCA-CCA pipeline and test rows as Track B.</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502920"/>
            <a:ext cx="10820095"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TRACK C · ATTENTION AND DIAGNOSTICS</a:t>
            </a:r>
            <a:endParaRPr lang="en-US" sz="1300" dirty="0"/>
          </a:p>
        </p:txBody>
      </p:sp>
      <p:sp>
        <p:nvSpPr>
          <p:cNvPr id="3" name="Text 1"/>
          <p:cNvSpPr txBox="1"/>
          <p:nvPr/>
        </p:nvSpPr>
        <p:spPr>
          <a:xfrm>
            <a:off x="685800" y="822960"/>
            <a:ext cx="10820095" cy="731520"/>
          </a:xfrm>
          <a:prstGeom prst="rect">
            <a:avLst/>
          </a:prstGeom>
          <a:noFill/>
          <a:ln/>
        </p:spPr>
        <p:txBody>
          <a:bodyPr wrap="square" lIns="0" tIns="0" rIns="0" bIns="0" rtlCol="0" anchor="t"/>
          <a:lstStyle/>
          <a:p>
            <a:pPr indent="0" marL="0">
              <a:buNone/>
            </a:pPr>
            <a:r>
              <a:rPr lang="en-US" sz="3400" b="1" dirty="0">
                <a:solidFill>
                  <a:srgbClr val="1E2A20"/>
                </a:solidFill>
                <a:latin typeface="Cambria" pitchFamily="34" charset="0"/>
                <a:ea typeface="Cambria" pitchFamily="34" charset="-122"/>
                <a:cs typeface="Cambria" pitchFamily="34" charset="-120"/>
              </a:rPr>
              <a:t>Attention does not track stability motifs</a:t>
            </a:r>
            <a:endParaRPr lang="en-US" sz="3400" dirty="0"/>
          </a:p>
        </p:txBody>
      </p:sp>
      <p:pic>
        <p:nvPicPr>
          <p:cNvPr id="4" name="Image 0" descr="RNA-FM attention along one 2,556 nt sequence, covering only the first 1,022 nt, with ARE and m6A motif hits shaded">    </p:cNvPr>
          <p:cNvPicPr>
            <a:picLocks noChangeAspect="1"/>
          </p:cNvPicPr>
          <p:nvPr/>
        </p:nvPicPr>
        <p:blipFill>
          <a:blip r:embed="rId1"/>
          <a:stretch>
            <a:fillRect/>
          </a:stretch>
        </p:blipFill>
        <p:spPr>
          <a:xfrm>
            <a:off x="685800" y="1737360"/>
            <a:ext cx="10820095" cy="2259055"/>
          </a:xfrm>
          <a:prstGeom prst="rect">
            <a:avLst/>
          </a:prstGeom>
        </p:spPr>
      </p:pic>
      <p:sp>
        <p:nvSpPr>
          <p:cNvPr id="5" name="Shape 2"/>
          <p:cNvSpPr/>
          <p:nvPr/>
        </p:nvSpPr>
        <p:spPr>
          <a:xfrm>
            <a:off x="685800" y="4270735"/>
            <a:ext cx="5272888" cy="1280160"/>
          </a:xfrm>
          <a:prstGeom prst="roundRect">
            <a:avLst>
              <a:gd name="adj" fmla="val 8571"/>
            </a:avLst>
          </a:prstGeom>
          <a:solidFill>
            <a:srgbClr val="EEF3EA"/>
          </a:solidFill>
          <a:ln w="12700">
            <a:solidFill>
              <a:srgbClr val="EEF3EA"/>
            </a:solidFill>
            <a:prstDash val="solid"/>
          </a:ln>
        </p:spPr>
      </p:sp>
      <p:sp>
        <p:nvSpPr>
          <p:cNvPr id="6" name="Text 3"/>
          <p:cNvSpPr txBox="1"/>
          <p:nvPr/>
        </p:nvSpPr>
        <p:spPr>
          <a:xfrm>
            <a:off x="960120" y="4453615"/>
            <a:ext cx="4724248"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Motif test, 100 sequences</a:t>
            </a:r>
            <a:endParaRPr lang="en-US" sz="1600" dirty="0"/>
          </a:p>
        </p:txBody>
      </p:sp>
      <p:sp>
        <p:nvSpPr>
          <p:cNvPr id="7" name="Text 4"/>
          <p:cNvSpPr txBox="1"/>
          <p:nvPr/>
        </p:nvSpPr>
        <p:spPr>
          <a:xfrm>
            <a:off x="960120" y="4837663"/>
            <a:ext cx="4724248" cy="640080"/>
          </a:xfrm>
          <a:prstGeom prst="rect">
            <a:avLst/>
          </a:prstGeom>
          <a:noFill/>
          <a:ln/>
        </p:spPr>
        <p:txBody>
          <a:bodyPr wrap="square" lIns="0" tIns="0" rIns="0" bIns="0" rtlCol="0" anchor="t"/>
          <a:lstStyle/>
          <a:p>
            <a:pPr indent="0" marL="0">
              <a:buNone/>
            </a:pPr>
            <a:r>
              <a:rPr lang="en-US" sz="1400" dirty="0">
                <a:solidFill>
                  <a:srgbClr val="46524A"/>
                </a:solidFill>
                <a:latin typeface="Calibri" pitchFamily="34" charset="0"/>
                <a:ea typeface="Calibri" pitchFamily="34" charset="-122"/>
                <a:cs typeface="Calibri" pitchFamily="34" charset="-120"/>
              </a:rPr>
              <a:t>Higher attention at ARE and m6A motifs: DNA 7%, RNA 9% (chance 5%). Mean gaps slightly negative in both.</a:t>
            </a:r>
            <a:endParaRPr lang="en-US" sz="1400" dirty="0"/>
          </a:p>
        </p:txBody>
      </p:sp>
      <p:sp>
        <p:nvSpPr>
          <p:cNvPr id="8" name="Shape 5"/>
          <p:cNvSpPr/>
          <p:nvPr/>
        </p:nvSpPr>
        <p:spPr>
          <a:xfrm>
            <a:off x="6233008" y="4270735"/>
            <a:ext cx="5272888" cy="1280160"/>
          </a:xfrm>
          <a:prstGeom prst="roundRect">
            <a:avLst>
              <a:gd name="adj" fmla="val 8571"/>
            </a:avLst>
          </a:prstGeom>
          <a:solidFill>
            <a:srgbClr val="EEF3EA"/>
          </a:solidFill>
          <a:ln w="12700">
            <a:solidFill>
              <a:srgbClr val="EEF3EA"/>
            </a:solidFill>
            <a:prstDash val="solid"/>
          </a:ln>
        </p:spPr>
      </p:sp>
      <p:sp>
        <p:nvSpPr>
          <p:cNvPr id="9" name="Text 6"/>
          <p:cNvSpPr txBox="1"/>
          <p:nvPr/>
        </p:nvSpPr>
        <p:spPr>
          <a:xfrm>
            <a:off x="6507328" y="4453615"/>
            <a:ext cx="4724248" cy="365760"/>
          </a:xfrm>
          <a:prstGeom prst="rect">
            <a:avLst/>
          </a:prstGeom>
          <a:noFill/>
          <a:ln/>
        </p:spPr>
        <p:txBody>
          <a:bodyPr wrap="square" lIns="0" tIns="0" rIns="0" bIns="0" rtlCol="0" anchor="ctr"/>
          <a:lstStyle/>
          <a:p>
            <a:pPr indent="0" marL="0">
              <a:buNone/>
            </a:pPr>
            <a:r>
              <a:rPr lang="en-US" sz="1600" b="1" dirty="0">
                <a:solidFill>
                  <a:srgbClr val="1E2A20"/>
                </a:solidFill>
                <a:latin typeface="Calibri" pitchFamily="34" charset="0"/>
                <a:ea typeface="Calibri" pitchFamily="34" charset="-122"/>
                <a:cs typeface="Calibri" pitchFamily="34" charset="-120"/>
              </a:rPr>
              <a:t>Alignment vs. error</a:t>
            </a:r>
            <a:endParaRPr lang="en-US" sz="1600" dirty="0"/>
          </a:p>
        </p:txBody>
      </p:sp>
      <p:sp>
        <p:nvSpPr>
          <p:cNvPr id="10" name="Text 7"/>
          <p:cNvSpPr txBox="1"/>
          <p:nvPr/>
        </p:nvSpPr>
        <p:spPr>
          <a:xfrm>
            <a:off x="6507328" y="4837663"/>
            <a:ext cx="4724248" cy="640080"/>
          </a:xfrm>
          <a:prstGeom prst="rect">
            <a:avLst/>
          </a:prstGeom>
          <a:noFill/>
          <a:ln/>
        </p:spPr>
        <p:txBody>
          <a:bodyPr wrap="square" lIns="0" tIns="0" rIns="0" bIns="0" rtlCol="0" anchor="t"/>
          <a:lstStyle/>
          <a:p>
            <a:pPr indent="0" marL="0">
              <a:buNone/>
            </a:pPr>
            <a:r>
              <a:rPr lang="en-US" sz="1400" dirty="0">
                <a:solidFill>
                  <a:srgbClr val="46524A"/>
                </a:solidFill>
                <a:latin typeface="Calibri" pitchFamily="34" charset="0"/>
                <a:ea typeface="Calibri" pitchFamily="34" charset="-122"/>
                <a:cs typeface="Calibri" pitchFamily="34" charset="-120"/>
              </a:rPr>
              <a:t>DNA-RNA 0.010, DNA-protein -0.013, RNA-protein -0.131 (p = 0.025, fails correction for 3 pairs).</a:t>
            </a:r>
            <a:endParaRPr lang="en-US" sz="1400" dirty="0"/>
          </a:p>
        </p:txBody>
      </p:sp>
      <p:sp>
        <p:nvSpPr>
          <p:cNvPr id="11" name="Text 8"/>
          <p:cNvSpPr txBox="1"/>
          <p:nvPr/>
        </p:nvSpPr>
        <p:spPr>
          <a:xfrm>
            <a:off x="685800" y="6263640"/>
            <a:ext cx="10820095" cy="32004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Plot: RNA-FM on one example sequence; it covers only the first 1,022 nt. Coding sequence only, so UTR-enriched motifs are under-represented.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502920"/>
            <a:ext cx="10820095"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DEFINING ALIGNMENT</a:t>
            </a:r>
            <a:endParaRPr lang="en-US" sz="1300" dirty="0"/>
          </a:p>
        </p:txBody>
      </p:sp>
      <p:sp>
        <p:nvSpPr>
          <p:cNvPr id="3" name="Text 1"/>
          <p:cNvSpPr txBox="1"/>
          <p:nvPr/>
        </p:nvSpPr>
        <p:spPr>
          <a:xfrm>
            <a:off x="685800" y="822960"/>
            <a:ext cx="10820095" cy="731520"/>
          </a:xfrm>
          <a:prstGeom prst="rect">
            <a:avLst/>
          </a:prstGeom>
          <a:noFill/>
          <a:ln/>
        </p:spPr>
        <p:txBody>
          <a:bodyPr wrap="square" lIns="0" tIns="0" rIns="0" bIns="0" rtlCol="0" anchor="t"/>
          <a:lstStyle/>
          <a:p>
            <a:pPr indent="0" marL="0">
              <a:buNone/>
            </a:pPr>
            <a:r>
              <a:rPr lang="en-US" sz="3400" b="1" dirty="0">
                <a:solidFill>
                  <a:srgbClr val="1E2A20"/>
                </a:solidFill>
                <a:latin typeface="Cambria" pitchFamily="34" charset="0"/>
                <a:ea typeface="Cambria" pitchFamily="34" charset="-122"/>
                <a:cs typeface="Cambria" pitchFamily="34" charset="-120"/>
              </a:rPr>
              <a:t>What Stage 1 means for alignment</a:t>
            </a:r>
            <a:endParaRPr lang="en-US" sz="3400" dirty="0"/>
          </a:p>
        </p:txBody>
      </p:sp>
      <p:sp>
        <p:nvSpPr>
          <p:cNvPr id="4" name="Shape 2"/>
          <p:cNvSpPr/>
          <p:nvPr/>
        </p:nvSpPr>
        <p:spPr>
          <a:xfrm>
            <a:off x="685800" y="1828800"/>
            <a:ext cx="5272888" cy="1783080"/>
          </a:xfrm>
          <a:prstGeom prst="roundRect">
            <a:avLst>
              <a:gd name="adj" fmla="val 6154"/>
            </a:avLst>
          </a:prstGeom>
          <a:solidFill>
            <a:srgbClr val="EEF3EA"/>
          </a:solidFill>
          <a:ln w="12700">
            <a:solidFill>
              <a:srgbClr val="EEF3EA"/>
            </a:solidFill>
            <a:prstDash val="solid"/>
          </a:ln>
        </p:spPr>
      </p:sp>
      <p:sp>
        <p:nvSpPr>
          <p:cNvPr id="5" name="Text 3"/>
          <p:cNvSpPr txBox="1"/>
          <p:nvPr/>
        </p:nvSpPr>
        <p:spPr>
          <a:xfrm>
            <a:off x="1005840" y="2057400"/>
            <a:ext cx="4632808" cy="411480"/>
          </a:xfrm>
          <a:prstGeom prst="rect">
            <a:avLst/>
          </a:prstGeom>
          <a:noFill/>
          <a:ln/>
        </p:spPr>
        <p:txBody>
          <a:bodyPr wrap="square" lIns="0" tIns="0" rIns="0" bIns="0" rtlCol="0" anchor="ctr"/>
          <a:lstStyle/>
          <a:p>
            <a:pPr indent="0" marL="0">
              <a:buNone/>
            </a:pPr>
            <a:r>
              <a:rPr lang="en-US" sz="1800" b="1" dirty="0">
                <a:solidFill>
                  <a:srgbClr val="1E2A20"/>
                </a:solidFill>
                <a:latin typeface="Calibri" pitchFamily="34" charset="0"/>
                <a:ea typeface="Calibri" pitchFamily="34" charset="-122"/>
                <a:cs typeface="Calibri" pitchFamily="34" charset="-120"/>
              </a:rPr>
              <a:t>Raw similarity is a weak target</a:t>
            </a:r>
            <a:endParaRPr lang="en-US" sz="1800" dirty="0"/>
          </a:p>
        </p:txBody>
      </p:sp>
      <p:sp>
        <p:nvSpPr>
          <p:cNvPr id="6" name="Text 4"/>
          <p:cNvSpPr txBox="1"/>
          <p:nvPr/>
        </p:nvSpPr>
        <p:spPr>
          <a:xfrm>
            <a:off x="1005840" y="2560320"/>
            <a:ext cx="4632808" cy="914400"/>
          </a:xfrm>
          <a:prstGeom prst="rect">
            <a:avLst/>
          </a:prstGeom>
          <a:noFill/>
          <a:ln/>
        </p:spPr>
        <p:txBody>
          <a:bodyPr wrap="square" lIns="0" tIns="0" rIns="0" bIns="0" rtlCol="0" anchor="t"/>
          <a:lstStyle/>
          <a:p>
            <a:pPr indent="0" marL="0">
              <a:buNone/>
            </a:pPr>
            <a:r>
              <a:rPr lang="en-US" sz="1500" dirty="0">
                <a:solidFill>
                  <a:srgbClr val="46524A"/>
                </a:solidFill>
                <a:latin typeface="Calibri" pitchFamily="34" charset="0"/>
                <a:ea typeface="Calibri" pitchFamily="34" charset="-122"/>
                <a:cs typeface="Calibri" pitchFamily="34" charset="-120"/>
              </a:rPr>
              <a:t>Composition alone reproduces most of it. Every alignment claim should report agreement before and after a composition control.</a:t>
            </a:r>
            <a:endParaRPr lang="en-US" sz="1500" dirty="0"/>
          </a:p>
        </p:txBody>
      </p:sp>
      <p:sp>
        <p:nvSpPr>
          <p:cNvPr id="7" name="Shape 5"/>
          <p:cNvSpPr/>
          <p:nvPr/>
        </p:nvSpPr>
        <p:spPr>
          <a:xfrm>
            <a:off x="6233008" y="1828800"/>
            <a:ext cx="5272888" cy="1783080"/>
          </a:xfrm>
          <a:prstGeom prst="roundRect">
            <a:avLst>
              <a:gd name="adj" fmla="val 6154"/>
            </a:avLst>
          </a:prstGeom>
          <a:solidFill>
            <a:srgbClr val="EEF3EA"/>
          </a:solidFill>
          <a:ln w="12700">
            <a:solidFill>
              <a:srgbClr val="EEF3EA"/>
            </a:solidFill>
            <a:prstDash val="solid"/>
          </a:ln>
        </p:spPr>
      </p:sp>
      <p:sp>
        <p:nvSpPr>
          <p:cNvPr id="8" name="Text 6"/>
          <p:cNvSpPr txBox="1"/>
          <p:nvPr/>
        </p:nvSpPr>
        <p:spPr>
          <a:xfrm>
            <a:off x="6553048" y="2057400"/>
            <a:ext cx="4632808" cy="411480"/>
          </a:xfrm>
          <a:prstGeom prst="rect">
            <a:avLst/>
          </a:prstGeom>
          <a:noFill/>
          <a:ln/>
        </p:spPr>
        <p:txBody>
          <a:bodyPr wrap="square" lIns="0" tIns="0" rIns="0" bIns="0" rtlCol="0" anchor="ctr"/>
          <a:lstStyle/>
          <a:p>
            <a:pPr indent="0" marL="0">
              <a:buNone/>
            </a:pPr>
            <a:r>
              <a:rPr lang="en-US" sz="1800" b="1" dirty="0">
                <a:solidFill>
                  <a:srgbClr val="1E2A20"/>
                </a:solidFill>
                <a:latin typeface="Calibri" pitchFamily="34" charset="0"/>
                <a:ea typeface="Calibri" pitchFamily="34" charset="-122"/>
                <a:cs typeface="Calibri" pitchFamily="34" charset="-120"/>
              </a:rPr>
              <a:t>High uniqueness with protein</a:t>
            </a:r>
            <a:endParaRPr lang="en-US" sz="1800" dirty="0"/>
          </a:p>
        </p:txBody>
      </p:sp>
      <p:sp>
        <p:nvSpPr>
          <p:cNvPr id="9" name="Text 7"/>
          <p:cNvSpPr txBox="1"/>
          <p:nvPr/>
        </p:nvSpPr>
        <p:spPr>
          <a:xfrm>
            <a:off x="6553048" y="2560320"/>
            <a:ext cx="4632808" cy="914400"/>
          </a:xfrm>
          <a:prstGeom prst="rect">
            <a:avLst/>
          </a:prstGeom>
          <a:noFill/>
          <a:ln/>
        </p:spPr>
        <p:txBody>
          <a:bodyPr wrap="square" lIns="0" tIns="0" rIns="0" bIns="0" rtlCol="0" anchor="t"/>
          <a:lstStyle/>
          <a:p>
            <a:pPr indent="0" marL="0">
              <a:buNone/>
            </a:pPr>
            <a:r>
              <a:rPr lang="en-US" sz="1500" dirty="0">
                <a:solidFill>
                  <a:srgbClr val="46524A"/>
                </a:solidFill>
                <a:latin typeface="Calibri" pitchFamily="34" charset="0"/>
                <a:ea typeface="Calibri" pitchFamily="34" charset="-122"/>
                <a:cs typeface="Calibri" pitchFamily="34" charset="-120"/>
              </a:rPr>
              <a:t>Protein pairs share a mostly compositional pocket. DNA and RNA are more redundant, as expected for the same letters.</a:t>
            </a:r>
            <a:endParaRPr lang="en-US" sz="1500" dirty="0"/>
          </a:p>
        </p:txBody>
      </p:sp>
      <p:sp>
        <p:nvSpPr>
          <p:cNvPr id="10" name="Shape 8"/>
          <p:cNvSpPr/>
          <p:nvPr/>
        </p:nvSpPr>
        <p:spPr>
          <a:xfrm>
            <a:off x="685800" y="3886200"/>
            <a:ext cx="5272888" cy="1783080"/>
          </a:xfrm>
          <a:prstGeom prst="roundRect">
            <a:avLst>
              <a:gd name="adj" fmla="val 6154"/>
            </a:avLst>
          </a:prstGeom>
          <a:solidFill>
            <a:srgbClr val="EEF3EA"/>
          </a:solidFill>
          <a:ln w="12700">
            <a:solidFill>
              <a:srgbClr val="EEF3EA"/>
            </a:solidFill>
            <a:prstDash val="solid"/>
          </a:ln>
        </p:spPr>
      </p:sp>
      <p:sp>
        <p:nvSpPr>
          <p:cNvPr id="11" name="Text 9"/>
          <p:cNvSpPr txBox="1"/>
          <p:nvPr/>
        </p:nvSpPr>
        <p:spPr>
          <a:xfrm>
            <a:off x="1005840" y="4114800"/>
            <a:ext cx="4632808" cy="411480"/>
          </a:xfrm>
          <a:prstGeom prst="rect">
            <a:avLst/>
          </a:prstGeom>
          <a:noFill/>
          <a:ln/>
        </p:spPr>
        <p:txBody>
          <a:bodyPr wrap="square" lIns="0" tIns="0" rIns="0" bIns="0" rtlCol="0" anchor="ctr"/>
          <a:lstStyle/>
          <a:p>
            <a:pPr indent="0" marL="0">
              <a:buNone/>
            </a:pPr>
            <a:r>
              <a:rPr lang="en-US" sz="1800" b="1" dirty="0">
                <a:solidFill>
                  <a:srgbClr val="1E2A20"/>
                </a:solidFill>
                <a:latin typeface="Calibri" pitchFamily="34" charset="0"/>
                <a:ea typeface="Calibri" pitchFamily="34" charset="-122"/>
                <a:cs typeface="Calibri" pitchFamily="34" charset="-120"/>
              </a:rPr>
              <a:t>No explicit alignment loss</a:t>
            </a:r>
            <a:endParaRPr lang="en-US" sz="1800" dirty="0"/>
          </a:p>
        </p:txBody>
      </p:sp>
      <p:sp>
        <p:nvSpPr>
          <p:cNvPr id="12" name="Text 10"/>
          <p:cNvSpPr txBox="1"/>
          <p:nvPr/>
        </p:nvSpPr>
        <p:spPr>
          <a:xfrm>
            <a:off x="1005840" y="4617720"/>
            <a:ext cx="4632808" cy="914400"/>
          </a:xfrm>
          <a:prstGeom prst="rect">
            <a:avLst/>
          </a:prstGeom>
          <a:noFill/>
          <a:ln/>
        </p:spPr>
        <p:txBody>
          <a:bodyPr wrap="square" lIns="0" tIns="0" rIns="0" bIns="0" rtlCol="0" anchor="t"/>
          <a:lstStyle/>
          <a:p>
            <a:pPr indent="0" marL="0">
              <a:buNone/>
            </a:pPr>
            <a:r>
              <a:rPr lang="en-US" sz="1500" dirty="0">
                <a:solidFill>
                  <a:srgbClr val="46524A"/>
                </a:solidFill>
                <a:latin typeface="Calibri" pitchFamily="34" charset="0"/>
                <a:ea typeface="Calibri" pitchFamily="34" charset="-122"/>
                <a:cs typeface="Calibri" pitchFamily="34" charset="-120"/>
              </a:rPr>
              <a:t>Alignment does not predict error. The fusion model should learn any useful interaction itself.</a:t>
            </a:r>
            <a:endParaRPr lang="en-US" sz="1500" dirty="0"/>
          </a:p>
        </p:txBody>
      </p:sp>
      <p:sp>
        <p:nvSpPr>
          <p:cNvPr id="13" name="Shape 11"/>
          <p:cNvSpPr/>
          <p:nvPr/>
        </p:nvSpPr>
        <p:spPr>
          <a:xfrm>
            <a:off x="6233008" y="3886200"/>
            <a:ext cx="5272888" cy="1783080"/>
          </a:xfrm>
          <a:prstGeom prst="roundRect">
            <a:avLst>
              <a:gd name="adj" fmla="val 6154"/>
            </a:avLst>
          </a:prstGeom>
          <a:solidFill>
            <a:srgbClr val="EEF3EA"/>
          </a:solidFill>
          <a:ln w="12700">
            <a:solidFill>
              <a:srgbClr val="EEF3EA"/>
            </a:solidFill>
            <a:prstDash val="solid"/>
          </a:ln>
        </p:spPr>
      </p:sp>
      <p:sp>
        <p:nvSpPr>
          <p:cNvPr id="14" name="Text 12"/>
          <p:cNvSpPr txBox="1"/>
          <p:nvPr/>
        </p:nvSpPr>
        <p:spPr>
          <a:xfrm>
            <a:off x="6553048" y="4114800"/>
            <a:ext cx="4632808" cy="411480"/>
          </a:xfrm>
          <a:prstGeom prst="rect">
            <a:avLst/>
          </a:prstGeom>
          <a:noFill/>
          <a:ln/>
        </p:spPr>
        <p:txBody>
          <a:bodyPr wrap="square" lIns="0" tIns="0" rIns="0" bIns="0" rtlCol="0" anchor="ctr"/>
          <a:lstStyle/>
          <a:p>
            <a:pPr indent="0" marL="0">
              <a:buNone/>
            </a:pPr>
            <a:r>
              <a:rPr lang="en-US" sz="1800" b="1" dirty="0">
                <a:solidFill>
                  <a:srgbClr val="1E2A20"/>
                </a:solidFill>
                <a:latin typeface="Calibri" pitchFamily="34" charset="0"/>
                <a:ea typeface="Calibri" pitchFamily="34" charset="-122"/>
                <a:cs typeface="Calibri" pitchFamily="34" charset="-120"/>
              </a:rPr>
              <a:t>A high bar for fusion</a:t>
            </a:r>
            <a:endParaRPr lang="en-US" sz="1800" dirty="0"/>
          </a:p>
        </p:txBody>
      </p:sp>
      <p:sp>
        <p:nvSpPr>
          <p:cNvPr id="15" name="Text 13"/>
          <p:cNvSpPr txBox="1"/>
          <p:nvPr/>
        </p:nvSpPr>
        <p:spPr>
          <a:xfrm>
            <a:off x="6553048" y="4617720"/>
            <a:ext cx="4632808" cy="914400"/>
          </a:xfrm>
          <a:prstGeom prst="rect">
            <a:avLst/>
          </a:prstGeom>
          <a:noFill/>
          <a:ln/>
        </p:spPr>
        <p:txBody>
          <a:bodyPr wrap="square" lIns="0" tIns="0" rIns="0" bIns="0" rtlCol="0" anchor="t"/>
          <a:lstStyle/>
          <a:p>
            <a:pPr indent="0" marL="0">
              <a:buNone/>
            </a:pPr>
            <a:r>
              <a:rPr lang="en-US" sz="1500" dirty="0">
                <a:solidFill>
                  <a:srgbClr val="46524A"/>
                </a:solidFill>
                <a:latin typeface="Calibri" pitchFamily="34" charset="0"/>
                <a:ea typeface="Calibri" pitchFamily="34" charset="-122"/>
                <a:cs typeface="Calibri" pitchFamily="34" charset="-120"/>
              </a:rPr>
              <a:t>It must beat protein alone (R² 0.103) and a concatenation plus MLP baseline.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8"/>
        </a:solidFill>
      </p:bgPr>
    </p:bg>
    <p:spTree>
      <p:nvGrpSpPr>
        <p:cNvPr id="1" name=""/>
        <p:cNvGrpSpPr/>
        <p:nvPr/>
      </p:nvGrpSpPr>
      <p:grpSpPr>
        <a:xfrm>
          <a:off x="0" y="0"/>
          <a:ext cx="0" cy="0"/>
          <a:chOff x="0" y="0"/>
          <a:chExt cx="0" cy="0"/>
        </a:xfrm>
      </p:grpSpPr>
      <p:sp>
        <p:nvSpPr>
          <p:cNvPr id="2" name="Text 0"/>
          <p:cNvSpPr txBox="1"/>
          <p:nvPr/>
        </p:nvSpPr>
        <p:spPr>
          <a:xfrm>
            <a:off x="685800" y="502920"/>
            <a:ext cx="10820095" cy="320040"/>
          </a:xfrm>
          <a:prstGeom prst="rect">
            <a:avLst/>
          </a:prstGeom>
          <a:noFill/>
          <a:ln/>
        </p:spPr>
        <p:txBody>
          <a:bodyPr wrap="square" lIns="0" tIns="0" rIns="0" bIns="0" rtlCol="0" anchor="ctr"/>
          <a:lstStyle/>
          <a:p>
            <a:pPr indent="0" marL="0">
              <a:buNone/>
            </a:pPr>
            <a:r>
              <a:rPr lang="en-US" sz="1300" b="1" spc="300" kern="0" dirty="0">
                <a:solidFill>
                  <a:srgbClr val="3E7A34"/>
                </a:solidFill>
                <a:latin typeface="Calibri" pitchFamily="34" charset="0"/>
                <a:ea typeface="Calibri" pitchFamily="34" charset="-122"/>
                <a:cs typeface="Calibri" pitchFamily="34" charset="-120"/>
              </a:rPr>
              <a:t>NEXT STEPS</a:t>
            </a:r>
            <a:endParaRPr lang="en-US" sz="1300" dirty="0"/>
          </a:p>
        </p:txBody>
      </p:sp>
      <p:sp>
        <p:nvSpPr>
          <p:cNvPr id="3" name="Text 1"/>
          <p:cNvSpPr txBox="1"/>
          <p:nvPr/>
        </p:nvSpPr>
        <p:spPr>
          <a:xfrm>
            <a:off x="685800" y="822960"/>
            <a:ext cx="10820095" cy="731520"/>
          </a:xfrm>
          <a:prstGeom prst="rect">
            <a:avLst/>
          </a:prstGeom>
          <a:noFill/>
          <a:ln/>
        </p:spPr>
        <p:txBody>
          <a:bodyPr wrap="square" lIns="0" tIns="0" rIns="0" bIns="0" rtlCol="0" anchor="t"/>
          <a:lstStyle/>
          <a:p>
            <a:pPr indent="0" marL="0">
              <a:buNone/>
            </a:pPr>
            <a:r>
              <a:rPr lang="en-US" sz="3400" b="1" dirty="0">
                <a:solidFill>
                  <a:srgbClr val="1E2A20"/>
                </a:solidFill>
                <a:latin typeface="Cambria" pitchFamily="34" charset="0"/>
                <a:ea typeface="Cambria" pitchFamily="34" charset="-122"/>
                <a:cs typeface="Cambria" pitchFamily="34" charset="-120"/>
              </a:rPr>
              <a:t>Next steps and open questions</a:t>
            </a:r>
            <a:endParaRPr lang="en-US" sz="3400" dirty="0"/>
          </a:p>
        </p:txBody>
      </p:sp>
      <p:sp>
        <p:nvSpPr>
          <p:cNvPr id="4" name="Text 2"/>
          <p:cNvSpPr txBox="1"/>
          <p:nvPr/>
        </p:nvSpPr>
        <p:spPr>
          <a:xfrm>
            <a:off x="685800" y="1828800"/>
            <a:ext cx="5227168" cy="365760"/>
          </a:xfrm>
          <a:prstGeom prst="rect">
            <a:avLst/>
          </a:prstGeom>
          <a:noFill/>
          <a:ln/>
        </p:spPr>
        <p:txBody>
          <a:bodyPr wrap="square" lIns="0" tIns="0" rIns="0" bIns="0" rtlCol="0" anchor="ctr"/>
          <a:lstStyle/>
          <a:p>
            <a:pPr indent="0" marL="0">
              <a:buNone/>
            </a:pPr>
            <a:r>
              <a:rPr lang="en-US" sz="1800" b="1" dirty="0">
                <a:solidFill>
                  <a:srgbClr val="3E7A34"/>
                </a:solidFill>
                <a:latin typeface="Calibri" pitchFamily="34" charset="0"/>
                <a:ea typeface="Calibri" pitchFamily="34" charset="-122"/>
                <a:cs typeface="Calibri" pitchFamily="34" charset="-120"/>
              </a:rPr>
              <a:t>Next steps</a:t>
            </a:r>
            <a:endParaRPr lang="en-US" sz="1800" dirty="0"/>
          </a:p>
        </p:txBody>
      </p:sp>
      <p:sp>
        <p:nvSpPr>
          <p:cNvPr id="5" name="Text 3"/>
          <p:cNvSpPr txBox="1"/>
          <p:nvPr/>
        </p:nvSpPr>
        <p:spPr>
          <a:xfrm>
            <a:off x="685800" y="2286000"/>
            <a:ext cx="5227168"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1E2A20"/>
                </a:solidFill>
                <a:latin typeface="Calibri" pitchFamily="34" charset="0"/>
                <a:ea typeface="Calibri" pitchFamily="34" charset="-122"/>
                <a:cs typeface="Calibri" pitchFamily="34" charset="-120"/>
              </a:rPr>
              <a:t>Several encoders per modality: NT v2 and DNABERT-2, mRNA-FM, ESM-2 8M and 150M</a:t>
            </a:r>
            <a:endParaRPr lang="en-US" sz="1500" dirty="0"/>
          </a:p>
          <a:p>
            <a:pPr marL="342900" indent="-342900">
              <a:spcAft>
                <a:spcPts val="1000"/>
              </a:spcAft>
              <a:buSzPct val="100000"/>
              <a:buChar char="•"/>
            </a:pPr>
            <a:r>
              <a:rPr lang="en-US" sz="1500" dirty="0">
                <a:solidFill>
                  <a:srgbClr val="1E2A20"/>
                </a:solidFill>
                <a:latin typeface="Calibri" pitchFamily="34" charset="0"/>
                <a:ea typeface="Calibri" pitchFamily="34" charset="-122"/>
                <a:cs typeface="Calibri" pitchFamily="34" charset="-120"/>
              </a:rPr>
              <a:t>Same Stage 1 comparisons for every pair, before and after the composition control</a:t>
            </a:r>
            <a:endParaRPr lang="en-US" sz="1500" dirty="0"/>
          </a:p>
          <a:p>
            <a:pPr marL="342900" indent="-342900">
              <a:spcAft>
                <a:spcPts val="1000"/>
              </a:spcAft>
              <a:buSzPct val="100000"/>
              <a:buChar char="•"/>
            </a:pPr>
            <a:r>
              <a:rPr lang="en-US" sz="1500" dirty="0">
                <a:solidFill>
                  <a:srgbClr val="1E2A20"/>
                </a:solidFill>
                <a:latin typeface="Calibri" pitchFamily="34" charset="0"/>
                <a:ea typeface="Calibri" pitchFamily="34" charset="-122"/>
                <a:cs typeface="Calibri" pitchFamily="34" charset="-120"/>
              </a:rPr>
              <a:t>Pilot on IsoFormer's GTEx data, where DNA is a distinct input</a:t>
            </a:r>
            <a:endParaRPr lang="en-US" sz="1500" dirty="0"/>
          </a:p>
          <a:p>
            <a:pPr marL="342900" indent="-342900">
              <a:spcAft>
                <a:spcPts val="1000"/>
              </a:spcAft>
              <a:buSzPct val="100000"/>
              <a:buChar char="•"/>
            </a:pPr>
            <a:r>
              <a:rPr lang="en-US" sz="1500" dirty="0">
                <a:solidFill>
                  <a:srgbClr val="1E2A20"/>
                </a:solidFill>
                <a:latin typeface="Calibri" pitchFamily="34" charset="0"/>
                <a:ea typeface="Calibri" pitchFamily="34" charset="-122"/>
                <a:cs typeface="Calibri" pitchFamily="34" charset="-120"/>
              </a:rPr>
              <a:t>Confirm the dataset version: this CSV has 65,356 rows vs. BioLangFusion's 41,123</a:t>
            </a:r>
            <a:endParaRPr lang="en-US" sz="1500" dirty="0"/>
          </a:p>
        </p:txBody>
      </p:sp>
      <p:sp>
        <p:nvSpPr>
          <p:cNvPr id="6" name="Shape 4"/>
          <p:cNvSpPr/>
          <p:nvPr/>
        </p:nvSpPr>
        <p:spPr>
          <a:xfrm>
            <a:off x="6278728" y="1828800"/>
            <a:ext cx="5227168" cy="3749040"/>
          </a:xfrm>
          <a:prstGeom prst="roundRect">
            <a:avLst>
              <a:gd name="adj" fmla="val 2927"/>
            </a:avLst>
          </a:prstGeom>
          <a:solidFill>
            <a:srgbClr val="EEF3EA"/>
          </a:solidFill>
          <a:ln w="12700">
            <a:solidFill>
              <a:srgbClr val="EEF3EA"/>
            </a:solidFill>
            <a:prstDash val="solid"/>
          </a:ln>
        </p:spPr>
      </p:sp>
      <p:sp>
        <p:nvSpPr>
          <p:cNvPr id="7" name="Text 5"/>
          <p:cNvSpPr txBox="1"/>
          <p:nvPr/>
        </p:nvSpPr>
        <p:spPr>
          <a:xfrm>
            <a:off x="6598768" y="2057400"/>
            <a:ext cx="4587088" cy="365760"/>
          </a:xfrm>
          <a:prstGeom prst="rect">
            <a:avLst/>
          </a:prstGeom>
          <a:noFill/>
          <a:ln/>
        </p:spPr>
        <p:txBody>
          <a:bodyPr wrap="square" lIns="0" tIns="0" rIns="0" bIns="0" rtlCol="0" anchor="ctr"/>
          <a:lstStyle/>
          <a:p>
            <a:pPr indent="0" marL="0">
              <a:buNone/>
            </a:pPr>
            <a:r>
              <a:rPr lang="en-US" sz="1800" b="1" dirty="0">
                <a:solidFill>
                  <a:srgbClr val="3E7A34"/>
                </a:solidFill>
                <a:latin typeface="Calibri" pitchFamily="34" charset="0"/>
                <a:ea typeface="Calibri" pitchFamily="34" charset="-122"/>
                <a:cs typeface="Calibri" pitchFamily="34" charset="-120"/>
              </a:rPr>
              <a:t>Open questions</a:t>
            </a:r>
            <a:endParaRPr lang="en-US" sz="1800" dirty="0"/>
          </a:p>
        </p:txBody>
      </p:sp>
      <p:sp>
        <p:nvSpPr>
          <p:cNvPr id="8" name="Text 6"/>
          <p:cNvSpPr txBox="1"/>
          <p:nvPr/>
        </p:nvSpPr>
        <p:spPr>
          <a:xfrm>
            <a:off x="6598768" y="2514600"/>
            <a:ext cx="4587088" cy="292608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500" dirty="0">
                <a:solidFill>
                  <a:srgbClr val="1E2A20"/>
                </a:solidFill>
                <a:latin typeface="Calibri" pitchFamily="34" charset="0"/>
                <a:ea typeface="Calibri" pitchFamily="34" charset="-122"/>
                <a:cs typeface="Calibri" pitchFamily="34" charset="-120"/>
              </a:rPr>
              <a:t>Is the agreement that survives the control shared biology, or nonlinear composition?</a:t>
            </a:r>
            <a:endParaRPr lang="en-US" sz="1500" dirty="0"/>
          </a:p>
          <a:p>
            <a:pPr marL="342900" indent="-342900">
              <a:spcAft>
                <a:spcPts val="1000"/>
              </a:spcAft>
              <a:buSzPct val="100000"/>
              <a:buFont typeface="+mj-lt"/>
              <a:buAutoNum type="arabicPeriod" startAt="1"/>
            </a:pPr>
            <a:r>
              <a:rPr lang="en-US" sz="1500" dirty="0">
                <a:solidFill>
                  <a:srgbClr val="1E2A20"/>
                </a:solidFill>
                <a:latin typeface="Calibri" pitchFamily="34" charset="0"/>
                <a:ea typeface="Calibri" pitchFamily="34" charset="-122"/>
                <a:cs typeface="Calibri" pitchFamily="34" charset="-120"/>
              </a:rPr>
              <a:t>Stability as the Stage 4 benchmark, or alongside IsoFormer's GTEx task?</a:t>
            </a:r>
            <a:endParaRPr lang="en-US" sz="1500" dirty="0"/>
          </a:p>
          <a:p>
            <a:pPr marL="342900" indent="-342900">
              <a:spcAft>
                <a:spcPts val="1000"/>
              </a:spcAft>
              <a:buSzPct val="100000"/>
              <a:buFont typeface="+mj-lt"/>
              <a:buAutoNum type="arabicPeriod" startAt="1"/>
            </a:pPr>
            <a:r>
              <a:rPr lang="en-US" sz="1500" dirty="0">
                <a:solidFill>
                  <a:srgbClr val="1E2A20"/>
                </a:solidFill>
                <a:latin typeface="Calibri" pitchFamily="34" charset="0"/>
                <a:ea typeface="Calibri" pitchFamily="34" charset="-122"/>
                <a:cs typeface="Calibri" pitchFamily="34" charset="-120"/>
              </a:rPr>
              <a:t>Build a deduplicated, sequence-disjoint split before scaling up?</a:t>
            </a:r>
            <a:endParaRPr lang="en-US" sz="1500" dirty="0"/>
          </a:p>
        </p:txBody>
      </p:sp>
      <p:sp>
        <p:nvSpPr>
          <p:cNvPr id="9" name="Text 7"/>
          <p:cNvSpPr txBox="1"/>
          <p:nvPr/>
        </p:nvSpPr>
        <p:spPr>
          <a:xfrm>
            <a:off x="685800" y="6263640"/>
            <a:ext cx="10820095" cy="320040"/>
          </a:xfrm>
          <a:prstGeom prst="rect">
            <a:avLst/>
          </a:prstGeom>
          <a:noFill/>
          <a:ln/>
        </p:spPr>
        <p:txBody>
          <a:bodyPr wrap="square" lIns="0" tIns="0" rIns="0" bIns="0" rtlCol="0" anchor="ctr"/>
          <a:lstStyle/>
          <a:p>
            <a:pPr indent="0" marL="0">
              <a:buNone/>
            </a:pPr>
            <a:r>
              <a:rPr lang="en-US" sz="1100" dirty="0">
                <a:solidFill>
                  <a:srgbClr val="6B766D"/>
                </a:solidFill>
                <a:latin typeface="Calibri" pitchFamily="34" charset="0"/>
                <a:ea typeface="Calibri" pitchFamily="34" charset="-122"/>
                <a:cs typeface="Calibri" pitchFamily="34" charset="-120"/>
              </a:rPr>
              <a:t>Fusion candidates unchanged: Coupled Mamba first, then IsoFormer-style cross-attention; concatenation plus MLP as the baseline.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Mina Meeting Slides, October 7, 2026</dc:title>
  <dc:subject>PptxGenJS Presentation</dc:subject>
  <dc:creator>PptxGenJS</dc:creator>
  <cp:lastModifiedBy>PptxGenJS</cp:lastModifiedBy>
  <cp:revision>1</cp:revision>
  <dcterms:created xsi:type="dcterms:W3CDTF">2026-09-30T00:49:08Z</dcterms:created>
  <dcterms:modified xsi:type="dcterms:W3CDTF">2026-09-30T00:49:08Z</dcterms:modified>
</cp:coreProperties>
</file>